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034689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143000"/>
            <a:ext cx="728386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UNIVERSITÀ DEGLI STUDI DI GENOVA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1482090"/>
            <a:ext cx="728386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M.Sc. Robotics Engineering · Master's Thesis · A.Y. 2025/26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5930563" y="1143000"/>
            <a:ext cx="12144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01 / 31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1725930"/>
            <a:ext cx="16482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EMBODIED LLM ARENA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2236470"/>
            <a:ext cx="16482060" cy="128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0" spc="-192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1143000" y="3784759"/>
            <a:ext cx="13735050" cy="1177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900" i="1" spc="-98" kern="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Comparing, routing and orchestrating multiple Large Language Models through a social robot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1143000" y="4923949"/>
            <a:ext cx="16002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312569"/>
            <a:ext cx="523231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3000" y="5651659"/>
            <a:ext cx="52323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Name ]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6051709"/>
            <a:ext cx="5232318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M.Sc. Robotics Engineering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03921" y="5312569"/>
            <a:ext cx="523244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603921" y="5651659"/>
            <a:ext cx="52324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Antonio Sgorbissa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603921" y="6051709"/>
            <a:ext cx="523244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DIBRIS · UniGe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64960" y="5312569"/>
            <a:ext cx="523244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CO-SUPERVISOR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064960" y="5651659"/>
            <a:ext cx="52324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Lucrezia Grassi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064960" y="6051709"/>
            <a:ext cx="523244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DIBRIS · UniGe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452009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28277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794670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01 — RESEARCH CONTEXT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7946708" cy="128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are moving out of the chatbox.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52500" y="3963829"/>
            <a:ext cx="7946708" cy="2661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last three years LLMs have become the de-facto reasoning engine for dialogue systems. Social robots, which have historically relied on hand-authored finite-state machines, are now being plugged into a single cloud LLM to handle open-ended conversation.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" y="6815614"/>
            <a:ext cx="7946708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new robot project commits to </a:t>
            </a:r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— and nobody knows whether that is the right choice.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620250" y="2425065"/>
            <a:ext cx="771525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1" name="Shape 9"/>
          <p:cNvSpPr/>
          <p:nvPr/>
        </p:nvSpPr>
        <p:spPr>
          <a:xfrm>
            <a:off x="9620250" y="1714500"/>
            <a:ext cx="771525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2" name="Text 10"/>
          <p:cNvSpPr/>
          <p:nvPr/>
        </p:nvSpPr>
        <p:spPr>
          <a:xfrm>
            <a:off x="9620250" y="1893570"/>
            <a:ext cx="12192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991850" y="1893570"/>
            <a:ext cx="653396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ships. Dialogue agents become plausible.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620250" y="3307080"/>
            <a:ext cx="771525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5" name="Text 13"/>
          <p:cNvSpPr/>
          <p:nvPr/>
        </p:nvSpPr>
        <p:spPr>
          <a:xfrm>
            <a:off x="9620250" y="2775585"/>
            <a:ext cx="121920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991850" y="2775585"/>
            <a:ext cx="653396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Pepper / NAO demos with GPT-3.5 wrappers.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620250" y="4549140"/>
            <a:ext cx="771525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8" name="Text 16"/>
          <p:cNvSpPr/>
          <p:nvPr/>
        </p:nvSpPr>
        <p:spPr>
          <a:xfrm>
            <a:off x="9620250" y="3657600"/>
            <a:ext cx="121920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991850" y="3657600"/>
            <a:ext cx="653396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Anthropic, Google, DeepSeek close the gap. Open-weights on laptops.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620250" y="5791200"/>
            <a:ext cx="771525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1" name="Text 19"/>
          <p:cNvSpPr/>
          <p:nvPr/>
        </p:nvSpPr>
        <p:spPr>
          <a:xfrm>
            <a:off x="9620250" y="4899660"/>
            <a:ext cx="121920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991850" y="4899660"/>
            <a:ext cx="653396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19+ frontier models. No consensus on which is "best".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620250" y="7033260"/>
            <a:ext cx="771525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4" name="Text 22"/>
          <p:cNvSpPr/>
          <p:nvPr/>
        </p:nvSpPr>
        <p:spPr>
          <a:xfrm>
            <a:off x="9620250" y="6141720"/>
            <a:ext cx="121920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991850" y="6141720"/>
            <a:ext cx="653396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thesis — an arena to find out, via real embodied interaction.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52500" y="7827169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089118" y="7827169"/>
            <a:ext cx="147839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Motivation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6547902" y="7827169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31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069943"/>
          </a:xfrm>
          <a:prstGeom prst="rect">
            <a:avLst/>
          </a:prstGeom>
          <a:solidFill>
            <a:srgbClr val="17151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30635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02 — THE PROBLEM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4716125" cy="128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Static, text-only benchmarks no longer measure what matters.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4040029"/>
            <a:ext cx="5206961" cy="2985849"/>
          </a:xfrm>
          <a:prstGeom prst="rect">
            <a:avLst/>
          </a:prstGeom>
          <a:solidFill>
            <a:srgbClr val="1E1C22"/>
          </a:solidFill>
          <a:ln w="7620">
            <a:solidFill>
              <a:srgbClr val="3A38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3020" y="4428649"/>
            <a:ext cx="298761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1 · CONTAMINATION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03020" y="4939189"/>
            <a:ext cx="4641098" cy="465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spc="-66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 leak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303020" y="5557123"/>
            <a:ext cx="4641098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MMLU, HumanEval, GSM8K appear verbatim in training corpora. A model may have seen the test.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540461" y="4040029"/>
            <a:ext cx="5206961" cy="2985849"/>
          </a:xfrm>
          <a:prstGeom prst="rect">
            <a:avLst/>
          </a:prstGeom>
          <a:solidFill>
            <a:srgbClr val="1E1C22"/>
          </a:solidFill>
          <a:ln w="7620">
            <a:solidFill>
              <a:srgbClr val="3A38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90981" y="4428649"/>
            <a:ext cx="244375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2 · SATURATION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890981" y="4939189"/>
            <a:ext cx="4641098" cy="465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spc="-66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scores 90%+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890981" y="5557123"/>
            <a:ext cx="4641098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five frontier models sit within 2 points of each other. The ladder has collapsed.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2128421" y="4040029"/>
            <a:ext cx="5206961" cy="2985849"/>
          </a:xfrm>
          <a:prstGeom prst="rect">
            <a:avLst/>
          </a:prstGeom>
          <a:solidFill>
            <a:srgbClr val="1E1C22"/>
          </a:solidFill>
          <a:ln w="7620">
            <a:solidFill>
              <a:srgbClr val="3A38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78941" y="4428649"/>
            <a:ext cx="367621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3 · MODALITY MISMATCH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478941" y="4939189"/>
            <a:ext cx="4641098" cy="465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spc="-66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≠ Embodiment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2478941" y="5557123"/>
            <a:ext cx="4641098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types brilliantly may still feel cold, slow or unsafe when it has a face and a body.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2500" y="7635478"/>
            <a:ext cx="16383000" cy="9525"/>
          </a:xfrm>
          <a:prstGeom prst="rect">
            <a:avLst/>
          </a:prstGeom>
          <a:solidFill>
            <a:srgbClr val="3A3841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7947898"/>
            <a:ext cx="7650668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arXiv:2502.17521 · arXiv:2506.23864 · LiveBench (ICLR 2025)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937213" y="7947898"/>
            <a:ext cx="453023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We need a new axis of evaluation.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52500" y="8445103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089118" y="8445103"/>
            <a:ext cx="147839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Motivation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6547902" y="8445103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31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141619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60674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03 — THE GAP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5697200" cy="1289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 study has benchmarked </a:t>
            </a:r>
            <a:pPr algn="l" indent="0" marL="0">
              <a:lnSpc>
                <a:spcPct val="102000"/>
              </a:lnSpc>
              <a:buNone/>
            </a:pPr>
            <a:r>
              <a:rPr lang="en-US" sz="4800" i="1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</a:t>
            </a:r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through a social robot.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52500" y="3952399"/>
            <a:ext cx="84278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THE ART · WHAT EXISTS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52500" y="4988719"/>
            <a:ext cx="8182333" cy="15240"/>
          </a:xfrm>
          <a:prstGeom prst="rect">
            <a:avLst/>
          </a:prstGeom>
          <a:solidFill>
            <a:srgbClr val="141318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" y="4520089"/>
            <a:ext cx="402661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47893" y="4520089"/>
            <a:ext cx="162472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Multi-LLM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48820" y="4520089"/>
            <a:ext cx="10007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825740" y="4520089"/>
            <a:ext cx="127099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2500" y="5670709"/>
            <a:ext cx="8182333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5" name="Text 13"/>
          <p:cNvSpPr/>
          <p:nvPr/>
        </p:nvSpPr>
        <p:spPr>
          <a:xfrm>
            <a:off x="1028700" y="5156359"/>
            <a:ext cx="4026612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MMLU / LiveBench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047893" y="5156359"/>
            <a:ext cx="1624727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748820" y="5156359"/>
            <a:ext cx="1000720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825740" y="5156359"/>
            <a:ext cx="1270992" cy="40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52500" y="6341269"/>
            <a:ext cx="8182333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0" name="Text 18"/>
          <p:cNvSpPr/>
          <p:nvPr/>
        </p:nvSpPr>
        <p:spPr>
          <a:xfrm>
            <a:off x="1028700" y="5830729"/>
            <a:ext cx="402661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Arena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047893" y="5830729"/>
            <a:ext cx="1624727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748820" y="5830729"/>
            <a:ext cx="100072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825740" y="5830729"/>
            <a:ext cx="127099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52500" y="7011829"/>
            <a:ext cx="8182333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8700" y="6501289"/>
            <a:ext cx="402661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Pepper + ChatGPT demos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047893" y="6501289"/>
            <a:ext cx="1624727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748820" y="6501289"/>
            <a:ext cx="100072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825740" y="6501289"/>
            <a:ext cx="127099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52500" y="7682389"/>
            <a:ext cx="8182333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30" name="Text 28"/>
          <p:cNvSpPr/>
          <p:nvPr/>
        </p:nvSpPr>
        <p:spPr>
          <a:xfrm>
            <a:off x="1028700" y="7171849"/>
            <a:ext cx="402661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 conversational agents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047893" y="7171849"/>
            <a:ext cx="1624727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748820" y="7171849"/>
            <a:ext cx="100072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7825740" y="7171849"/>
            <a:ext cx="127099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52500" y="8368189"/>
            <a:ext cx="8182333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35" name="Text 33"/>
          <p:cNvSpPr/>
          <p:nvPr/>
        </p:nvSpPr>
        <p:spPr>
          <a:xfrm>
            <a:off x="1028700" y="7842409"/>
            <a:ext cx="402661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thesis — OmniLLM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5047893" y="7842409"/>
            <a:ext cx="162472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6748820" y="7842409"/>
            <a:ext cx="10007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7825740" y="7842409"/>
            <a:ext cx="127099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896832" y="3952399"/>
            <a:ext cx="7438668" cy="4189095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61652" y="4417219"/>
            <a:ext cx="423064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UNANSWERED QUESTION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0361652" y="4889659"/>
            <a:ext cx="6704299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i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an LLM ranking derived from </a:t>
            </a:r>
            <a:pPr algn="l" indent="0" marL="0">
              <a:lnSpc>
                <a:spcPct val="120000"/>
              </a:lnSpc>
              <a:buNone/>
            </a:pPr>
            <a:r>
              <a:rPr lang="en-US" sz="3150" i="1" u="sng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embodied </a:t>
            </a:r>
            <a:pPr algn="l" indent="0" marL="0">
              <a:lnSpc>
                <a:spcPct val="120000"/>
              </a:lnSpc>
              <a:buNone/>
            </a:pPr>
            <a:r>
              <a:rPr lang="en-US" sz="3150" i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agree with the ranking we get from text?"</a:t>
            </a:r>
            <a:endParaRPr lang="en-US" sz="3150" dirty="0"/>
          </a:p>
        </p:txBody>
      </p:sp>
      <p:sp>
        <p:nvSpPr>
          <p:cNvPr id="42" name="Text 40"/>
          <p:cNvSpPr/>
          <p:nvPr/>
        </p:nvSpPr>
        <p:spPr>
          <a:xfrm>
            <a:off x="10361652" y="6596539"/>
            <a:ext cx="6704299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doesn't, every robot deployment currently picking a model on the basis of MMLU or Chatbot Arena is picking </a:t>
            </a:r>
            <a:pPr algn="l" indent="0" marL="0">
              <a:lnSpc>
                <a:spcPct val="135000"/>
              </a:lnSpc>
              <a:buNone/>
            </a:pPr>
            <a:r>
              <a:rPr lang="en-US" sz="2100" i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blindly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952500" y="8516779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0089118" y="8516779"/>
            <a:ext cx="147839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Motivation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6547902" y="8516779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31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4" name="Text 2"/>
          <p:cNvSpPr/>
          <p:nvPr/>
        </p:nvSpPr>
        <p:spPr>
          <a:xfrm>
            <a:off x="2082522" y="476250"/>
            <a:ext cx="150471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04 — THESIS OBJECTIVE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2225040"/>
            <a:ext cx="15697200" cy="3406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0" spc="-180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first arena that evaluates LLMs </a:t>
            </a:r>
            <a:pPr algn="l" indent="0" marL="0">
              <a:lnSpc>
                <a:spcPct val="98000"/>
              </a:lnSpc>
              <a:buNone/>
            </a:pPr>
            <a:r>
              <a:rPr lang="en-US" sz="9000" i="1" spc="-180" kern="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</a:t>
            </a:r>
            <a:pPr algn="l" indent="0" marL="0">
              <a:lnSpc>
                <a:spcPct val="98000"/>
              </a:lnSpc>
              <a:buNone/>
            </a:pPr>
            <a:r>
              <a:rPr lang="en-US" sz="9000" spc="-180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social robot.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952500" y="6355080"/>
            <a:ext cx="5206961" cy="1524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6637020"/>
            <a:ext cx="30932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52500" y="7033260"/>
            <a:ext cx="5363169" cy="504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spc="-72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52500" y="7690009"/>
            <a:ext cx="5363169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modular, plug-in architecture where any LLM is a 5-line YAML entry — not a rewrite.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540461" y="6355080"/>
            <a:ext cx="5206961" cy="1524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12" name="Text 10"/>
          <p:cNvSpPr/>
          <p:nvPr/>
        </p:nvSpPr>
        <p:spPr>
          <a:xfrm>
            <a:off x="6540461" y="6637020"/>
            <a:ext cx="30932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40461" y="7033260"/>
            <a:ext cx="5363169" cy="504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spc="-72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540461" y="7690009"/>
            <a:ext cx="5363169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task types × five routing conditions, counterbalanced across human participants.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128421" y="6355080"/>
            <a:ext cx="5206961" cy="1524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16" name="Text 14"/>
          <p:cNvSpPr/>
          <p:nvPr/>
        </p:nvSpPr>
        <p:spPr>
          <a:xfrm>
            <a:off x="12128421" y="6637020"/>
            <a:ext cx="30932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128421" y="7033260"/>
            <a:ext cx="5363169" cy="504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spc="-72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28421" y="7690009"/>
            <a:ext cx="5363169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metrics + Likert + Godspeed + pairwise ELO — converging on a single verdict.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52500" y="8907304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089118" y="8907304"/>
            <a:ext cx="147839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Motivation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6547902" y="8907304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31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528584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86225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ROBOT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05 — THE MOTIVATION FOR EMBODIMENT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5697200" cy="128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benchmarks miss what a body adds to — and demands from — an LLM.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944779"/>
            <a:ext cx="7029450" cy="53340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6316" y="4218384"/>
            <a:ext cx="3121819" cy="478678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743950" y="5323999"/>
            <a:ext cx="859155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1" name="Text 8"/>
          <p:cNvSpPr/>
          <p:nvPr/>
        </p:nvSpPr>
        <p:spPr>
          <a:xfrm>
            <a:off x="8743950" y="3944779"/>
            <a:ext cx="647700" cy="1245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544050" y="3944779"/>
            <a:ext cx="8025194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becomes visceral.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544050" y="4432459"/>
            <a:ext cx="8025194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3-second text pause is tolerable. A 3-second silence while a robot stares at you is awkward — and the LLM is blamed.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8743950" y="7015639"/>
            <a:ext cx="859155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5" name="Text 12"/>
          <p:cNvSpPr/>
          <p:nvPr/>
        </p:nvSpPr>
        <p:spPr>
          <a:xfrm>
            <a:off x="8743950" y="5636419"/>
            <a:ext cx="647700" cy="1245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544050" y="5636419"/>
            <a:ext cx="8025194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is required.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544050" y="6124099"/>
            <a:ext cx="8025194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robot must answer "where is Room 305?" with a real pointing gesture. Vague text is useless.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743950" y="9067324"/>
            <a:ext cx="859155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9" name="Text 16"/>
          <p:cNvSpPr/>
          <p:nvPr/>
        </p:nvSpPr>
        <p:spPr>
          <a:xfrm>
            <a:off x="8743950" y="7328059"/>
            <a:ext cx="647700" cy="1605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9544050" y="7328059"/>
            <a:ext cx="8025194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pressure changes judgment.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9544050" y="7815739"/>
            <a:ext cx="8025194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presence, eye contact and gestures shift perceived competence and trust — effects text-only evaluation cannot capture.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8743950" y="10758964"/>
            <a:ext cx="859155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3" name="Text 20"/>
          <p:cNvSpPr/>
          <p:nvPr/>
        </p:nvSpPr>
        <p:spPr>
          <a:xfrm>
            <a:off x="8743950" y="9379744"/>
            <a:ext cx="647700" cy="1245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9544050" y="9379744"/>
            <a:ext cx="8025194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Multilingualism is immersive.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9544050" y="9867424"/>
            <a:ext cx="8025194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Pepper answers you in your own tongue, fluency quality matters far more than a BLEU score on paper.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952500" y="10903744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0105311" y="10903744"/>
            <a:ext cx="144601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Approach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6547902" y="10903744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31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963144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203108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06 — WHY PEPPER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Pepper is the canonical HRI platform — and its age is an asset.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323034"/>
            <a:ext cx="3857625" cy="1336477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597355"/>
            <a:ext cx="3486740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 m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88720" y="4141351"/>
            <a:ext cx="105644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4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000625" y="3323034"/>
            <a:ext cx="3857625" cy="1336477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6845" y="3597355"/>
            <a:ext cx="3486740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236845" y="4141351"/>
            <a:ext cx="313711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4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DEGREES OF FREEDOM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52500" y="4850011"/>
            <a:ext cx="3857625" cy="1580317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5124331"/>
            <a:ext cx="3486740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188720" y="5668328"/>
            <a:ext cx="2005370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4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MICROPHONES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000625" y="4850011"/>
            <a:ext cx="3857625" cy="1580317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6845" y="5124331"/>
            <a:ext cx="3486740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+ 1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5236845" y="5668328"/>
            <a:ext cx="328427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4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CAMERAS + TABLET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" y="6620828"/>
            <a:ext cx="3857625" cy="1580317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6895148"/>
            <a:ext cx="3486740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NAOqi 2.5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188720" y="7439144"/>
            <a:ext cx="30938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4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(PYTHON 2.7)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5000625" y="6620828"/>
            <a:ext cx="3857625" cy="1580317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6845" y="6895148"/>
            <a:ext cx="3486740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20 000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5236845" y="7439144"/>
            <a:ext cx="2344460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4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DEPLOYED WORLDWIDE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757410" y="3323034"/>
            <a:ext cx="7805433" cy="1226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"Pepper's NAOqi 2.x runtime is locked to Python 2.7. This forces a clean separation of robot control and AI inference — which is exactly what a multi-LLM arena needs."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429750" y="4988004"/>
            <a:ext cx="485227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ROBOT FOR THIS STUDY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429750" y="5460445"/>
            <a:ext cx="304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829800" y="5460445"/>
            <a:ext cx="773087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Richest expressive channel: speech, gaze, arm gestures, eye LEDs, tablet.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429750" y="6203395"/>
            <a:ext cx="3048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829800" y="6203395"/>
            <a:ext cx="773087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available in the IRAI Lab — no hardware risk.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429750" y="6656784"/>
            <a:ext cx="304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829800" y="6656784"/>
            <a:ext cx="773087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forces a clean HTTP boundary, ideal for swapping LLM backends live.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429750" y="7399734"/>
            <a:ext cx="304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829800" y="7399734"/>
            <a:ext cx="773087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Widely studied → our results stay comparable with prior Pepper HRI literature.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52500" y="8338304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0105311" y="8338304"/>
            <a:ext cx="144601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Approach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6547902" y="8338304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31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586675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89451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07 — FOUR TASK TYPES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interaction is exactly one of four canonical HRI tasks.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323034"/>
            <a:ext cx="3924300" cy="43815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6820" y="3681174"/>
            <a:ext cx="44196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84107" y="3673555"/>
            <a:ext cx="39457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26820" y="4275534"/>
            <a:ext cx="347693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48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Retrieval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26820" y="4801314"/>
            <a:ext cx="3375660" cy="587693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13" name="Text 11"/>
          <p:cNvSpPr/>
          <p:nvPr/>
        </p:nvSpPr>
        <p:spPr>
          <a:xfrm>
            <a:off x="1421130" y="4953714"/>
            <a:ext cx="311117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time does the lab open?"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26820" y="6788229"/>
            <a:ext cx="347693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RAG over lab documents. Tests factual grounding.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105400" y="3323034"/>
            <a:ext cx="3924300" cy="43815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9720" y="3681174"/>
            <a:ext cx="44196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74380" y="3673555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379720" y="4275534"/>
            <a:ext cx="347693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48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&amp; Guidance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379720" y="4801314"/>
            <a:ext cx="3375660" cy="587693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20" name="Text 18"/>
          <p:cNvSpPr/>
          <p:nvPr/>
        </p:nvSpPr>
        <p:spPr>
          <a:xfrm>
            <a:off x="5574030" y="4953714"/>
            <a:ext cx="311117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is Room 305?"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79720" y="6788229"/>
            <a:ext cx="347693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must point physically; text alone is useless. Tests embodiment.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258300" y="3323034"/>
            <a:ext cx="3924300" cy="43815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32620" y="3681174"/>
            <a:ext cx="44196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2518708" y="3673555"/>
            <a:ext cx="46577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♡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532620" y="4275534"/>
            <a:ext cx="347693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48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Conversation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532620" y="4801314"/>
            <a:ext cx="3375660" cy="587693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27" name="Text 25"/>
          <p:cNvSpPr/>
          <p:nvPr/>
        </p:nvSpPr>
        <p:spPr>
          <a:xfrm>
            <a:off x="9726930" y="4953714"/>
            <a:ext cx="311117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are you today?"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532620" y="6788229"/>
            <a:ext cx="347693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Empathy, naturalness, timing. Tests social competence.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3411200" y="3323034"/>
            <a:ext cx="3924300" cy="43815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685520" y="3681174"/>
            <a:ext cx="44196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6849249" y="3673555"/>
            <a:ext cx="28813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‡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3685520" y="4275534"/>
            <a:ext cx="347693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48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3685520" y="4801314"/>
            <a:ext cx="3375660" cy="587693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4" name="Text 32"/>
          <p:cNvSpPr/>
          <p:nvPr/>
        </p:nvSpPr>
        <p:spPr>
          <a:xfrm>
            <a:off x="13879830" y="4953714"/>
            <a:ext cx="311117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"¿Dónde está la cafetería?"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3685520" y="6788229"/>
            <a:ext cx="347693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of the above, in another language. Tests linguistic breadth.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952500" y="8085534"/>
            <a:ext cx="16383000" cy="73914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37" name="Text 35"/>
          <p:cNvSpPr/>
          <p:nvPr/>
        </p:nvSpPr>
        <p:spPr>
          <a:xfrm>
            <a:off x="1181100" y="8314134"/>
            <a:ext cx="164172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◼ classifier · rule-based primary + LLM fallback · confidence ∈ [0, 1] · routed downstream to task-specific pipeline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52500" y="8961834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105311" y="8961834"/>
            <a:ext cx="144601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Approach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6547902" y="8961834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31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44996"/>
          </a:xfrm>
          <a:prstGeom prst="rect">
            <a:avLst/>
          </a:prstGeom>
          <a:solidFill>
            <a:srgbClr val="17151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80189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08 — RESEARCH HYPOTHESES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falsifiable claims the experiment will test.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513534"/>
            <a:ext cx="16383000" cy="9525"/>
          </a:xfrm>
          <a:prstGeom prst="rect">
            <a:avLst/>
          </a:prstGeom>
          <a:solidFill>
            <a:srgbClr val="3A3841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825955"/>
            <a:ext cx="1790700" cy="1299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spc="-12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H₁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3124200" y="3825955"/>
            <a:ext cx="14637639" cy="446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50" spc="-63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Embodied ranking ≠ text-only ranking.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124200" y="4367332"/>
            <a:ext cx="14637639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quality orderings produced from HRI sessions will differ significantly from those produced by MMLU / Chatbot Arena — measured via Spearman rank correlation.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5658921"/>
            <a:ext cx="16383000" cy="9525"/>
          </a:xfrm>
          <a:prstGeom prst="rect">
            <a:avLst/>
          </a:prstGeom>
          <a:solidFill>
            <a:srgbClr val="3A3841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5971342"/>
            <a:ext cx="1790700" cy="1299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spc="-12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H₂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3124200" y="5971342"/>
            <a:ext cx="14637639" cy="446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50" spc="-63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routing &gt; any fixed model.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3124200" y="6512719"/>
            <a:ext cx="14637639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task-typed router that chooses a different LLM for T1 / T2 / T3 / T4 will outperform the best single model on aggregate user satisfaction.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" y="7804309"/>
            <a:ext cx="16383000" cy="9525"/>
          </a:xfrm>
          <a:prstGeom prst="rect">
            <a:avLst/>
          </a:prstGeom>
          <a:solidFill>
            <a:srgbClr val="3A3841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8116729"/>
            <a:ext cx="1790700" cy="1299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spc="-12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H₃</a:t>
            </a:r>
            <a:endParaRPr lang="en-US" sz="6300" dirty="0"/>
          </a:p>
        </p:txBody>
      </p:sp>
      <p:sp>
        <p:nvSpPr>
          <p:cNvPr id="18" name="Text 16"/>
          <p:cNvSpPr/>
          <p:nvPr/>
        </p:nvSpPr>
        <p:spPr>
          <a:xfrm>
            <a:off x="3124200" y="8116729"/>
            <a:ext cx="14637639" cy="446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50" spc="-63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raises accuracy uniformly.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3124200" y="8658106"/>
            <a:ext cx="14637639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every LLM backend, RAG-augmented answers will score higher on accuracy and trust than the same backend without RAG.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2500" y="9820156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105311" y="9820156"/>
            <a:ext cx="144601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Approach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6547902" y="9820156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31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640014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206978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09 — SYSTEM ARCHITECTURE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67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layers: </a:t>
            </a:r>
            <a:pPr algn="l" indent="0" marL="0">
              <a:lnSpc>
                <a:spcPct val="102000"/>
              </a:lnSpc>
              <a:buNone/>
            </a:pPr>
            <a:r>
              <a:rPr lang="en-US" sz="4800" i="1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02000"/>
              </a:lnSpc>
              <a:buNone/>
            </a:pPr>
            <a:r>
              <a:rPr lang="en-US" sz="4800" i="1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</a:t>
            </a:r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02000"/>
              </a:lnSpc>
              <a:buNone/>
            </a:pPr>
            <a:r>
              <a:rPr lang="en-US" sz="4800" i="1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235405"/>
            <a:ext cx="8096250" cy="1451610"/>
          </a:xfrm>
          <a:prstGeom prst="rect">
            <a:avLst/>
          </a:prstGeom>
          <a:solidFill>
            <a:srgbClr val="FBF9F3"/>
          </a:solidFill>
          <a:ln w="7620">
            <a:solidFill>
              <a:srgbClr val="141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0620" y="3414474"/>
            <a:ext cx="793101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4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· PHYSICAL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50620" y="3764994"/>
            <a:ext cx="793101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participant ⇄ Pepper robot ALAudioDevice → WAV 16 kHz ALAnimatedSpeech · ALMotion · ALLeds · Tablet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239250" y="3235405"/>
            <a:ext cx="8096250" cy="1451610"/>
          </a:xfrm>
          <a:prstGeom prst="rect">
            <a:avLst/>
          </a:prstGeom>
          <a:solidFill>
            <a:srgbClr val="FBF9F3"/>
          </a:solidFill>
          <a:ln w="7620">
            <a:solidFill>
              <a:srgbClr val="141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37370" y="3414474"/>
            <a:ext cx="793101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4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· BRIDGE (PY 2.7)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437370" y="3764994"/>
            <a:ext cx="793101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naoqi_client.py — captures audio, base64-encodes, HTTP POST /interact, executes RobotAction on return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6755" y="4877514"/>
            <a:ext cx="1687449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7A768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 HTTP/JSON · :5000 ↓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952500" y="5060395"/>
            <a:ext cx="16383000" cy="2613660"/>
          </a:xfrm>
          <a:prstGeom prst="rect">
            <a:avLst/>
          </a:prstGeom>
          <a:solidFill>
            <a:srgbClr val="FBF9F3"/>
          </a:solidFill>
          <a:ln w="15240">
            <a:solidFill>
              <a:srgbClr val="141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6340" y="5304234"/>
            <a:ext cx="72521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· AI SERVER · PYTHON 3.11+ · FLASK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332989" y="5319475"/>
            <a:ext cx="183487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omnillm.server.app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196340" y="5730954"/>
            <a:ext cx="5389602" cy="1699260"/>
          </a:xfrm>
          <a:prstGeom prst="rect">
            <a:avLst/>
          </a:prstGeom>
          <a:solidFill>
            <a:srgbClr val="F2EEE6"/>
          </a:solidFill>
          <a:ln w="7620">
            <a:solidFill>
              <a:srgbClr val="1413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4460" y="5910025"/>
            <a:ext cx="51431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4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AGENT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94460" y="6260545"/>
            <a:ext cx="5143163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 → Detect lang → Classify task → conditional RAG / direct LLM → Smart Router / Council → Build RobotAction → Log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19292" y="5730954"/>
            <a:ext cx="3368516" cy="1699260"/>
          </a:xfrm>
          <a:prstGeom prst="rect">
            <a:avLst/>
          </a:prstGeom>
          <a:solidFill>
            <a:srgbClr val="F2EEE6"/>
          </a:solidFill>
          <a:ln w="7620">
            <a:solidFill>
              <a:srgbClr val="141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7412" y="5910025"/>
            <a:ext cx="30614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4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917412" y="6260545"/>
            <a:ext cx="306144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vectors + keyword fallback 6 KB documents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221159" y="5730954"/>
            <a:ext cx="3368516" cy="1699260"/>
          </a:xfrm>
          <a:prstGeom prst="rect">
            <a:avLst/>
          </a:prstGeom>
          <a:solidFill>
            <a:srgbClr val="F2EEE6"/>
          </a:solidFill>
          <a:ln w="7620">
            <a:solidFill>
              <a:srgbClr val="141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19279" y="5910025"/>
            <a:ext cx="30614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4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CORE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419279" y="6260545"/>
            <a:ext cx="306144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gateway 6 routing strategies 5 consensus modes ELO scorer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3723025" y="5730954"/>
            <a:ext cx="3368635" cy="1699260"/>
          </a:xfrm>
          <a:prstGeom prst="rect">
            <a:avLst/>
          </a:prstGeom>
          <a:solidFill>
            <a:srgbClr val="F2EEE6"/>
          </a:solidFill>
          <a:ln w="7620">
            <a:solidFill>
              <a:srgbClr val="1413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921144" y="5910025"/>
            <a:ext cx="30615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4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LOGGER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921144" y="6260545"/>
            <a:ext cx="3061567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· tokens · cost RAG faithfulness Questionnaires CSV / JSON export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6755" y="7864554"/>
            <a:ext cx="1687449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7A768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 HTTPS ↓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952500" y="8047434"/>
            <a:ext cx="3169920" cy="83058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3470" y="8207454"/>
            <a:ext cx="8305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93470" y="8519875"/>
            <a:ext cx="297462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 / 4o / o1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255770" y="8047434"/>
            <a:ext cx="3169920" cy="83058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96740" y="8207454"/>
            <a:ext cx="12077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4396740" y="8519875"/>
            <a:ext cx="297462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· Sonnet · Haiku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559040" y="8047434"/>
            <a:ext cx="3169920" cy="83058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00010" y="8207454"/>
            <a:ext cx="8305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7700010" y="8519875"/>
            <a:ext cx="297462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/ Flash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0862310" y="8047434"/>
            <a:ext cx="3169920" cy="83058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003281" y="8207454"/>
            <a:ext cx="19621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· Qwen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1003281" y="8519875"/>
            <a:ext cx="297462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R1 · 72B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4165581" y="8047434"/>
            <a:ext cx="3169920" cy="830580"/>
          </a:xfrm>
          <a:prstGeom prst="rect">
            <a:avLst/>
          </a:prstGeom>
          <a:solidFill>
            <a:srgbClr val="E8E2D4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306550" y="8207454"/>
            <a:ext cx="18364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— local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4306550" y="8519875"/>
            <a:ext cx="297462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Llama3 · Qwen · Mistral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952500" y="9015175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0180082" y="9015175"/>
            <a:ext cx="129647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System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6547902" y="9015175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31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17532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5242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57325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66925" y="476250"/>
            <a:ext cx="148328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10 — CLIENT–SERVER TOPOLOGY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two-process design, bridged by one HTTP endpoint.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227784"/>
            <a:ext cx="7620000" cy="4272915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9" name="Text 7"/>
          <p:cNvSpPr/>
          <p:nvPr/>
        </p:nvSpPr>
        <p:spPr>
          <a:xfrm>
            <a:off x="1310640" y="3585924"/>
            <a:ext cx="310804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· ON PEPPER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10640" y="4031694"/>
            <a:ext cx="7110831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spc="-60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NAOqi · Python 2.7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10640" y="4648914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ALAudioDevice → WAV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10640" y="5005150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base64 encode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10640" y="5361384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requests.post(/interact)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10640" y="5717620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ALAnimatedSpeech.say()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10640" y="6073854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ALBehaviorManager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10640" y="6430089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ALLeds.fadeRGB()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10640" y="6786325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ALTabletService.show()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763000" y="4800362"/>
            <a:ext cx="762000" cy="19050"/>
          </a:xfrm>
          <a:prstGeom prst="rect">
            <a:avLst/>
          </a:prstGeom>
          <a:solidFill>
            <a:srgbClr val="141318"/>
          </a:solidFill>
          <a:ln/>
        </p:spPr>
      </p:sp>
      <p:sp>
        <p:nvSpPr>
          <p:cNvPr id="19" name="Text 17"/>
          <p:cNvSpPr/>
          <p:nvPr/>
        </p:nvSpPr>
        <p:spPr>
          <a:xfrm>
            <a:off x="8791575" y="4952762"/>
            <a:ext cx="704850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JSON :5000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763000" y="5909072"/>
            <a:ext cx="762000" cy="19050"/>
          </a:xfrm>
          <a:prstGeom prst="rect">
            <a:avLst/>
          </a:prstGeom>
          <a:solidFill>
            <a:srgbClr val="141318"/>
          </a:solidFill>
          <a:ln/>
        </p:spPr>
      </p:sp>
      <p:sp>
        <p:nvSpPr>
          <p:cNvPr id="21" name="Shape 19"/>
          <p:cNvSpPr/>
          <p:nvPr/>
        </p:nvSpPr>
        <p:spPr>
          <a:xfrm>
            <a:off x="9715500" y="3227784"/>
            <a:ext cx="7620000" cy="4272915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22" name="Text 20"/>
          <p:cNvSpPr/>
          <p:nvPr/>
        </p:nvSpPr>
        <p:spPr>
          <a:xfrm>
            <a:off x="10073640" y="3585924"/>
            <a:ext cx="397139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· LAPTOP / CLOUD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073640" y="4031694"/>
            <a:ext cx="7110831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spc="-60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· Python 3.11+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073640" y="4648914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/interact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073640" y="5005150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/transcribe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073640" y="5361384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/evaluate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073640" y="5717620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/health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073640" y="6073854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/status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0073640" y="6430089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/export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0073640" y="6786325"/>
            <a:ext cx="711083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LangGraph ⇄ LiteLLM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52500" y="7881700"/>
            <a:ext cx="16383000" cy="153162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8117920"/>
            <a:ext cx="362654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4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SHAPE MATTERS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88720" y="8457009"/>
            <a:ext cx="16387877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Flask server </a:t>
            </a:r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assumes Pepper exists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Remove the NAOqi client and the same server still answers text queries — which means the full LLM pipeline is testable without the robot, and other robots (NAO, Buddy) can drop in with a different bridge.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52500" y="9550479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0187821" y="9550479"/>
            <a:ext cx="129647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System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6563380" y="9550479"/>
            <a:ext cx="84832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31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659064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52007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11 — VOICE-TO-SPEECH LIFECYCLE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steps from human voice to Pepper's reply.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692604"/>
            <a:ext cx="800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323034"/>
            <a:ext cx="647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76400" y="332303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speaks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91150" y="332303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waves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52500" y="4165044"/>
            <a:ext cx="800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3795474"/>
            <a:ext cx="647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676400" y="379547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Pepper mic → WAV 16 kHz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91150" y="379547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52500" y="4637485"/>
            <a:ext cx="800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267914"/>
            <a:ext cx="647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76400" y="426791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POST /interact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91150" y="426791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JSON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" y="5109925"/>
            <a:ext cx="800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4740355"/>
            <a:ext cx="647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676400" y="4740355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transcription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391150" y="4740355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is Room 305?"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52500" y="5582365"/>
            <a:ext cx="800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5212795"/>
            <a:ext cx="647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676400" y="5212795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detection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391150" y="5212795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"en"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52500" y="6054804"/>
            <a:ext cx="800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5685234"/>
            <a:ext cx="647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676400" y="568523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classification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5391150" y="568523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· navigation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52500" y="6527245"/>
            <a:ext cx="800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6157675"/>
            <a:ext cx="647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676400" y="6157675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retrieval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5391150" y="6157675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chunks + scores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952500" y="6999685"/>
            <a:ext cx="800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37" name="Text 35"/>
          <p:cNvSpPr/>
          <p:nvPr/>
        </p:nvSpPr>
        <p:spPr>
          <a:xfrm>
            <a:off x="952500" y="6630114"/>
            <a:ext cx="647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676400" y="663011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generation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5391150" y="663011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LiteLLM gateway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952500" y="7472124"/>
            <a:ext cx="800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41" name="Text 39"/>
          <p:cNvSpPr/>
          <p:nvPr/>
        </p:nvSpPr>
        <p:spPr>
          <a:xfrm>
            <a:off x="952500" y="7102554"/>
            <a:ext cx="647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676400" y="710255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planner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5391150" y="710255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point_left · LED #00AAFF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952500" y="7944565"/>
            <a:ext cx="800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45" name="Text 43"/>
          <p:cNvSpPr/>
          <p:nvPr/>
        </p:nvSpPr>
        <p:spPr>
          <a:xfrm>
            <a:off x="952500" y="7574995"/>
            <a:ext cx="647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676400" y="7574995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interaction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5391150" y="7574995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· cost · model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952500" y="8417004"/>
            <a:ext cx="800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49" name="Text 47"/>
          <p:cNvSpPr/>
          <p:nvPr/>
        </p:nvSpPr>
        <p:spPr>
          <a:xfrm>
            <a:off x="952500" y="8047434"/>
            <a:ext cx="647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676400" y="804743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response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5391150" y="8047434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RobotAction JSON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952500" y="8889445"/>
            <a:ext cx="800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3" name="Text 51"/>
          <p:cNvSpPr/>
          <p:nvPr/>
        </p:nvSpPr>
        <p:spPr>
          <a:xfrm>
            <a:off x="952500" y="8519875"/>
            <a:ext cx="647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676400" y="8519875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Pepper executes action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5391150" y="8519875"/>
            <a:ext cx="36692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+ motion + LED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9334500" y="3227784"/>
            <a:ext cx="625030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BUDGET · END-TO-END TARGET &lt; 3 S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9334500" y="3700224"/>
            <a:ext cx="107644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STT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16058436" y="3700224"/>
            <a:ext cx="135326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ms · 550 ms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9334500" y="3936444"/>
            <a:ext cx="8001000" cy="9525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60" name="Text 58"/>
          <p:cNvSpPr/>
          <p:nvPr/>
        </p:nvSpPr>
        <p:spPr>
          <a:xfrm>
            <a:off x="9334500" y="4165044"/>
            <a:ext cx="135374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detect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16439912" y="4165044"/>
            <a:ext cx="97178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ms · 8 ms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9334500" y="4401264"/>
            <a:ext cx="8001000" cy="9525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63" name="Text 61"/>
          <p:cNvSpPr/>
          <p:nvPr/>
        </p:nvSpPr>
        <p:spPr>
          <a:xfrm>
            <a:off x="9334500" y="4629864"/>
            <a:ext cx="103846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classify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16153805" y="4629864"/>
            <a:ext cx="125789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ms · 500 ms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9334500" y="4866084"/>
            <a:ext cx="8001000" cy="9525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66" name="Text 64"/>
          <p:cNvSpPr/>
          <p:nvPr/>
        </p:nvSpPr>
        <p:spPr>
          <a:xfrm>
            <a:off x="9334500" y="5094684"/>
            <a:ext cx="1105257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retrieval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16058436" y="5094684"/>
            <a:ext cx="135326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ms · 120 ms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9334500" y="5330904"/>
            <a:ext cx="8001000" cy="9525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69" name="Text 67"/>
          <p:cNvSpPr/>
          <p:nvPr/>
        </p:nvSpPr>
        <p:spPr>
          <a:xfrm>
            <a:off x="9334500" y="5559504"/>
            <a:ext cx="126765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generation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15867698" y="5559504"/>
            <a:ext cx="154400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ms · 1200 ms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9334500" y="5795725"/>
            <a:ext cx="8001000" cy="9525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72" name="Text 70"/>
          <p:cNvSpPr/>
          <p:nvPr/>
        </p:nvSpPr>
        <p:spPr>
          <a:xfrm>
            <a:off x="9334500" y="6024325"/>
            <a:ext cx="10578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plan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16439912" y="6024325"/>
            <a:ext cx="97178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ms · 8 ms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9334500" y="6260545"/>
            <a:ext cx="8001000" cy="9525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75" name="Text 73"/>
          <p:cNvSpPr/>
          <p:nvPr/>
        </p:nvSpPr>
        <p:spPr>
          <a:xfrm>
            <a:off x="9334500" y="6489145"/>
            <a:ext cx="108287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RTT</a:t>
            </a:r>
            <a:endParaRPr lang="en-US" sz="1350" dirty="0"/>
          </a:p>
        </p:txBody>
      </p:sp>
      <p:sp>
        <p:nvSpPr>
          <p:cNvPr id="76" name="Text 74"/>
          <p:cNvSpPr/>
          <p:nvPr/>
        </p:nvSpPr>
        <p:spPr>
          <a:xfrm>
            <a:off x="16249174" y="6489145"/>
            <a:ext cx="116252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ms · 25 ms</a:t>
            </a:r>
            <a:endParaRPr lang="en-US" sz="1350" dirty="0"/>
          </a:p>
        </p:txBody>
      </p:sp>
      <p:sp>
        <p:nvSpPr>
          <p:cNvPr id="77" name="Shape 75"/>
          <p:cNvSpPr/>
          <p:nvPr/>
        </p:nvSpPr>
        <p:spPr>
          <a:xfrm>
            <a:off x="9334500" y="6725364"/>
            <a:ext cx="8001000" cy="9525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78" name="Shape 76"/>
          <p:cNvSpPr/>
          <p:nvPr/>
        </p:nvSpPr>
        <p:spPr>
          <a:xfrm>
            <a:off x="9334500" y="7087314"/>
            <a:ext cx="8001000" cy="80010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79" name="Text 77"/>
          <p:cNvSpPr/>
          <p:nvPr/>
        </p:nvSpPr>
        <p:spPr>
          <a:xfrm>
            <a:off x="9505950" y="7258764"/>
            <a:ext cx="78981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A3841"/>
                </a:solidFill>
                <a:highlight>
                  <a:srgbClr val="E8E2D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▮ local Ollama · ▮ cloud API typical total: 800 – 2 500 ms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952500" y="9034225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81" name="Text 79"/>
          <p:cNvSpPr/>
          <p:nvPr/>
        </p:nvSpPr>
        <p:spPr>
          <a:xfrm>
            <a:off x="10180082" y="9034225"/>
            <a:ext cx="129647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System</a:t>
            </a:r>
            <a:endParaRPr lang="en-US" sz="1650" dirty="0"/>
          </a:p>
        </p:txBody>
      </p:sp>
      <p:sp>
        <p:nvSpPr>
          <p:cNvPr id="82" name="Text 80"/>
          <p:cNvSpPr/>
          <p:nvPr/>
        </p:nvSpPr>
        <p:spPr>
          <a:xfrm>
            <a:off x="16547902" y="9034225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31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360819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65615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12 — LANGGRAPH AGENT PIPELINE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128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nodes. One shared state. Conditional routing by task type.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754279"/>
            <a:ext cx="16383000" cy="584454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990499"/>
            <a:ext cx="15910560" cy="5334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2500" y="9735979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0180082" y="9735979"/>
            <a:ext cx="129647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System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6547902" y="9735979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31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78190"/>
          </a:xfrm>
          <a:prstGeom prst="rect">
            <a:avLst/>
          </a:prstGeom>
          <a:solidFill>
            <a:srgbClr val="17151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57460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13 — LLM PROVIDER LANDSCAPE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Nineteen models. Four families. One YAML entry each.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227784"/>
            <a:ext cx="9223296" cy="5143500"/>
          </a:xfrm>
          <a:prstGeom prst="rect">
            <a:avLst/>
          </a:prstGeom>
          <a:solidFill>
            <a:srgbClr val="1E1C22"/>
          </a:solidFill>
          <a:ln w="7620">
            <a:solidFill>
              <a:srgbClr val="3A38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4920" y="3540205"/>
            <a:ext cx="453894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· OUTPUT $ / 1 M TOKENS</a:t>
            </a:r>
            <a:endParaRPr lang="en-US" sz="16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920" y="3936444"/>
            <a:ext cx="8598456" cy="565034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747296" y="3340180"/>
            <a:ext cx="133350" cy="133350"/>
          </a:xfrm>
          <a:prstGeom prst="ellipse">
            <a:avLst/>
          </a:prstGeom>
          <a:solidFill>
            <a:srgbClr val="B8B3BE"/>
          </a:solidFill>
          <a:ln/>
        </p:spPr>
      </p:sp>
      <p:sp>
        <p:nvSpPr>
          <p:cNvPr id="12" name="Text 9"/>
          <p:cNvSpPr/>
          <p:nvPr/>
        </p:nvSpPr>
        <p:spPr>
          <a:xfrm>
            <a:off x="11013996" y="3227784"/>
            <a:ext cx="10363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1013996" y="3643074"/>
            <a:ext cx="6519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 · 4o · o1 · o3-mini · 4o-mini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0747296" y="4222194"/>
            <a:ext cx="133350" cy="133350"/>
          </a:xfrm>
          <a:prstGeom prst="ellipse">
            <a:avLst/>
          </a:prstGeom>
          <a:solidFill>
            <a:srgbClr val="F2DDD1"/>
          </a:solidFill>
          <a:ln/>
        </p:spPr>
      </p:sp>
      <p:sp>
        <p:nvSpPr>
          <p:cNvPr id="15" name="Text 12"/>
          <p:cNvSpPr/>
          <p:nvPr/>
        </p:nvSpPr>
        <p:spPr>
          <a:xfrm>
            <a:off x="11013996" y="4109799"/>
            <a:ext cx="151638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1013996" y="4525089"/>
            <a:ext cx="6519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· Sonnet · Haiku 4.6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013996" y="4991814"/>
            <a:ext cx="10363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1013996" y="5407104"/>
            <a:ext cx="6519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 · 2.5 Flash · 2.0 Flash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013996" y="5873829"/>
            <a:ext cx="24765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· Qwen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1013996" y="6289120"/>
            <a:ext cx="6519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V3 · R1 · Qwen 2.5 72B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013996" y="6755845"/>
            <a:ext cx="313159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— FREE local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1013996" y="7171134"/>
            <a:ext cx="6519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Llama3:8b · Qwen2.5:7b · Mistral · DS-R1:14b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0747296" y="7637859"/>
            <a:ext cx="6588086" cy="1878330"/>
          </a:xfrm>
          <a:prstGeom prst="rect">
            <a:avLst/>
          </a:prstGeom>
          <a:solidFill>
            <a:srgbClr val="1E1C22"/>
          </a:solidFill>
          <a:ln w="7620">
            <a:solidFill>
              <a:srgbClr val="3A384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945416" y="7835979"/>
            <a:ext cx="299338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4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NEW MODEL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0945416" y="8175070"/>
            <a:ext cx="637760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my-model: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provider: openai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model: my-v2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cost_per_1m_input: 1.00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cost_per_1m_output: 3.00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52500" y="9653350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0180082" y="9653350"/>
            <a:ext cx="129647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System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6547902" y="9653350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31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968628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1370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14 — SMART ROUTER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strategies. The router learns from past evaluations.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227784"/>
            <a:ext cx="5346621" cy="1818323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9670" y="3464005"/>
            <a:ext cx="215646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0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BEST_QUALITY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69670" y="3917394"/>
            <a:ext cx="5059649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model with the highest historical judge score.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69670" y="4578430"/>
            <a:ext cx="5059649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↪ Research tasks.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70571" y="3227784"/>
            <a:ext cx="5346740" cy="1818323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87741" y="3464005"/>
            <a:ext cx="198310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0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LOWEST_COST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687741" y="3917394"/>
            <a:ext cx="505977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 model that clears a quality floor.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87741" y="4295537"/>
            <a:ext cx="5059772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↪ Bulk demos.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988760" y="3227784"/>
            <a:ext cx="5346740" cy="1818323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05931" y="3464005"/>
            <a:ext cx="250317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0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LOWEST_LATENCY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205931" y="3917394"/>
            <a:ext cx="505977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Historically fastest model.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205931" y="4295537"/>
            <a:ext cx="5059772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↪ Live robot feel.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52500" y="5217557"/>
            <a:ext cx="5346621" cy="1818323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9670" y="5453777"/>
            <a:ext cx="18097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0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BEST_VALUE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69670" y="5907167"/>
            <a:ext cx="5059649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0.5·Q + 0.3/latency + 0.2/cost — composite.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69670" y="6285309"/>
            <a:ext cx="5059649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↪ General.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70571" y="5217557"/>
            <a:ext cx="5346740" cy="1818323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87741" y="5453777"/>
            <a:ext cx="267833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0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LOCAL_PREFERRED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687741" y="5907167"/>
            <a:ext cx="505977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first, cloud as fallback.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687741" y="6285309"/>
            <a:ext cx="5059772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↪ Privacy, offline.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988760" y="5217557"/>
            <a:ext cx="5346740" cy="1818323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205931" y="5453777"/>
            <a:ext cx="163639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0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TASK_TYPE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205931" y="5907167"/>
            <a:ext cx="5059772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T1→GPT-4o-mini · T2→Gemini · T3→Haiku · T4→Gemini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2205931" y="6568202"/>
            <a:ext cx="5059772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↪ HRI condition C.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52500" y="7416879"/>
            <a:ext cx="16383000" cy="1789748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33" name="Text 31"/>
          <p:cNvSpPr/>
          <p:nvPr/>
        </p:nvSpPr>
        <p:spPr>
          <a:xfrm>
            <a:off x="1257300" y="7683579"/>
            <a:ext cx="4765817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 · BEST_VALUE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257300" y="8079820"/>
            <a:ext cx="16285845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= quality × 0.5 + (1 / latency_ms) × 0.3 + (1 / cost_usd) × 0.2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1257300" y="8657034"/>
            <a:ext cx="16285845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are configurable per deployment. History is re-read from results/ on every run — so the router improves as more sessions are logged.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52500" y="9343787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0180082" y="9343787"/>
            <a:ext cx="129647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System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6547902" y="9343787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31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071735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22467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COUNCIL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15 — THE LLM COUNCIL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independent models. One synthesised answer.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227784"/>
            <a:ext cx="8624411" cy="6081951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920" y="3540205"/>
            <a:ext cx="7999572" cy="541901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148412" y="3227784"/>
            <a:ext cx="414553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SYNTHESIS STRATEGIES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10148412" y="4092654"/>
            <a:ext cx="7187089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2" name="Text 9"/>
          <p:cNvSpPr/>
          <p:nvPr/>
        </p:nvSpPr>
        <p:spPr>
          <a:xfrm>
            <a:off x="10148412" y="3738324"/>
            <a:ext cx="2171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majority_vote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377262" y="3738324"/>
            <a:ext cx="5106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cluster with the most agreements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0148412" y="4664154"/>
            <a:ext cx="7187089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5" name="Text 12"/>
          <p:cNvSpPr/>
          <p:nvPr/>
        </p:nvSpPr>
        <p:spPr>
          <a:xfrm>
            <a:off x="10148412" y="4309824"/>
            <a:ext cx="2171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judge_synth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377262" y="4309824"/>
            <a:ext cx="5106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judge writes a combined best answer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148412" y="5235654"/>
            <a:ext cx="7187089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8" name="Text 15"/>
          <p:cNvSpPr/>
          <p:nvPr/>
        </p:nvSpPr>
        <p:spPr>
          <a:xfrm>
            <a:off x="10148412" y="4881325"/>
            <a:ext cx="2171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weighted_elo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377262" y="4881325"/>
            <a:ext cx="5106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each model by current ELO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148412" y="5807155"/>
            <a:ext cx="7187089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1" name="Text 18"/>
          <p:cNvSpPr/>
          <p:nvPr/>
        </p:nvSpPr>
        <p:spPr>
          <a:xfrm>
            <a:off x="10148412" y="5452825"/>
            <a:ext cx="2171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longest_agree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377262" y="5452825"/>
            <a:ext cx="5106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 span shared by ≥ 2 models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0148412" y="6378655"/>
            <a:ext cx="7187089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4" name="Text 21"/>
          <p:cNvSpPr/>
          <p:nvPr/>
        </p:nvSpPr>
        <p:spPr>
          <a:xfrm>
            <a:off x="10148412" y="6024325"/>
            <a:ext cx="2171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safety_veto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377262" y="6024325"/>
            <a:ext cx="5106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refusal veto blocks synthesis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0148412" y="6652975"/>
            <a:ext cx="7187089" cy="92964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27" name="Text 24"/>
          <p:cNvSpPr/>
          <p:nvPr/>
        </p:nvSpPr>
        <p:spPr>
          <a:xfrm>
            <a:off x="10338912" y="6843475"/>
            <a:ext cx="7021701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robot should rarely trust a single model for a potentially unsafe action. The council is the safety net.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952500" y="9446895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0180082" y="9446895"/>
            <a:ext cx="129647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System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6547902" y="9446895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31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764679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61841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16 — RAG KNOWLEDGE BASE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128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answers in six lab documents — not model memory.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52500" y="3849529"/>
            <a:ext cx="249054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CORPUS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52500" y="4283869"/>
            <a:ext cx="7186970" cy="52578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10" name="Text 8"/>
          <p:cNvSpPr/>
          <p:nvPr/>
        </p:nvSpPr>
        <p:spPr>
          <a:xfrm>
            <a:off x="1127760" y="4417219"/>
            <a:ext cx="2171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lab_info.txt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4417219"/>
            <a:ext cx="398451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· hours · WiFi · safety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44120" y="4417219"/>
            <a:ext cx="7429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52500" y="4885849"/>
            <a:ext cx="7186970" cy="52578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14" name="Text 12"/>
          <p:cNvSpPr/>
          <p:nvPr/>
        </p:nvSpPr>
        <p:spPr>
          <a:xfrm>
            <a:off x="1127760" y="5019199"/>
            <a:ext cx="2171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university_map.txt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5019199"/>
            <a:ext cx="398451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plans · directions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44120" y="5019199"/>
            <a:ext cx="7429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52500" y="5487829"/>
            <a:ext cx="7186970" cy="52578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18" name="Text 16"/>
          <p:cNvSpPr/>
          <p:nvPr/>
        </p:nvSpPr>
        <p:spPr>
          <a:xfrm>
            <a:off x="1127760" y="5621179"/>
            <a:ext cx="2171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research_projects.txt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37560" y="5621179"/>
            <a:ext cx="398451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lab projects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44120" y="5621179"/>
            <a:ext cx="7429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52500" y="6089809"/>
            <a:ext cx="7186970" cy="52578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22" name="Text 20"/>
          <p:cNvSpPr/>
          <p:nvPr/>
        </p:nvSpPr>
        <p:spPr>
          <a:xfrm>
            <a:off x="1127760" y="6223159"/>
            <a:ext cx="2171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event_schedule.csv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37560" y="6223159"/>
            <a:ext cx="398451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Seminars · open days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44120" y="6223159"/>
            <a:ext cx="7429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52500" y="6691789"/>
            <a:ext cx="7186970" cy="52578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26" name="Text 24"/>
          <p:cNvSpPr/>
          <p:nvPr/>
        </p:nvSpPr>
        <p:spPr>
          <a:xfrm>
            <a:off x="1127760" y="6825139"/>
            <a:ext cx="2171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visitor_profiles.csv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37560" y="6825139"/>
            <a:ext cx="398451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· roles · slots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44120" y="6825139"/>
            <a:ext cx="7429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52500" y="7293769"/>
            <a:ext cx="7186970" cy="66294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30" name="Text 28"/>
          <p:cNvSpPr/>
          <p:nvPr/>
        </p:nvSpPr>
        <p:spPr>
          <a:xfrm>
            <a:off x="1127760" y="7427119"/>
            <a:ext cx="217170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faq.txt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337560" y="7427119"/>
            <a:ext cx="3984514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Frequently asked Q&amp;A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44120" y="7427119"/>
            <a:ext cx="74295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baseline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710970" y="3849529"/>
            <a:ext cx="13213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8710970" y="4283869"/>
            <a:ext cx="8624531" cy="438912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85290" y="5031581"/>
            <a:ext cx="807589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36" name="Text 34"/>
          <p:cNvSpPr/>
          <p:nvPr/>
        </p:nvSpPr>
        <p:spPr>
          <a:xfrm>
            <a:off x="8985290" y="4653439"/>
            <a:ext cx="38100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◦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423440" y="4653439"/>
            <a:ext cx="786687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documents · 512 chars · 64 overlap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8985290" y="5512594"/>
            <a:ext cx="807589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39" name="Text 37"/>
          <p:cNvSpPr/>
          <p:nvPr/>
        </p:nvSpPr>
        <p:spPr>
          <a:xfrm>
            <a:off x="8985290" y="5134451"/>
            <a:ext cx="38100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◦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423440" y="5134451"/>
            <a:ext cx="786687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with sentence-transformers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8985290" y="5993606"/>
            <a:ext cx="807589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42" name="Text 40"/>
          <p:cNvSpPr/>
          <p:nvPr/>
        </p:nvSpPr>
        <p:spPr>
          <a:xfrm>
            <a:off x="8985290" y="5615464"/>
            <a:ext cx="38100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◦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423440" y="5615464"/>
            <a:ext cx="786687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in ChromaDB (persistent)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8985290" y="6474619"/>
            <a:ext cx="807589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45" name="Text 43"/>
          <p:cNvSpPr/>
          <p:nvPr/>
        </p:nvSpPr>
        <p:spPr>
          <a:xfrm>
            <a:off x="8985290" y="6096476"/>
            <a:ext cx="38100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423440" y="6096476"/>
            <a:ext cx="786687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→ embed → top-k cosine similarity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8985290" y="6955631"/>
            <a:ext cx="807589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48" name="Text 46"/>
          <p:cNvSpPr/>
          <p:nvPr/>
        </p:nvSpPr>
        <p:spPr>
          <a:xfrm>
            <a:off x="8985290" y="6577489"/>
            <a:ext cx="38100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423440" y="6577489"/>
            <a:ext cx="786687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 prompt with retrieved chunks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8985290" y="7436644"/>
            <a:ext cx="807589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1" name="Text 49"/>
          <p:cNvSpPr/>
          <p:nvPr/>
        </p:nvSpPr>
        <p:spPr>
          <a:xfrm>
            <a:off x="8985290" y="7058501"/>
            <a:ext cx="38100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423440" y="7058501"/>
            <a:ext cx="786687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answers, grounded in context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8985290" y="7917656"/>
            <a:ext cx="807589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4" name="Text 52"/>
          <p:cNvSpPr/>
          <p:nvPr/>
        </p:nvSpPr>
        <p:spPr>
          <a:xfrm>
            <a:off x="8985290" y="7539514"/>
            <a:ext cx="38100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✓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423440" y="7539514"/>
            <a:ext cx="786687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scores faithfulness ∈ [0,1]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8985290" y="8020526"/>
            <a:ext cx="38100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!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423440" y="8020526"/>
            <a:ext cx="786687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flag if claim not supported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8710970" y="8863489"/>
            <a:ext cx="8624531" cy="113919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59" name="Text 57"/>
          <p:cNvSpPr/>
          <p:nvPr/>
        </p:nvSpPr>
        <p:spPr>
          <a:xfrm>
            <a:off x="8905280" y="9034939"/>
            <a:ext cx="914757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8905280" y="9316879"/>
            <a:ext cx="85065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ChromaDB fails to initialise, the pipeline degrades gracefully to keyword search — the server never crashes on a vector DB issue.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952500" y="10139839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0180082" y="10139839"/>
            <a:ext cx="129647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System</a:t>
            </a:r>
            <a:endParaRPr lang="en-US" sz="1650" dirty="0"/>
          </a:p>
        </p:txBody>
      </p:sp>
      <p:sp>
        <p:nvSpPr>
          <p:cNvPr id="63" name="Text 61"/>
          <p:cNvSpPr/>
          <p:nvPr/>
        </p:nvSpPr>
        <p:spPr>
          <a:xfrm>
            <a:off x="16547902" y="10139839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31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814197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207621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· LANG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17 — SPEECH &amp; LANGUAGE PROCESSING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transcribes. A three-tier cascade labels the language.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227784"/>
            <a:ext cx="7962900" cy="4824413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4920" y="3540205"/>
            <a:ext cx="23645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SPEECH-TO-TEXT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64920" y="3985974"/>
            <a:ext cx="7558202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spc="-60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Whisper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264920" y="4603194"/>
            <a:ext cx="3602355" cy="1102043"/>
          </a:xfrm>
          <a:prstGeom prst="rect">
            <a:avLst/>
          </a:prstGeom>
          <a:solidFill>
            <a:srgbClr val="F2EEE6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3990" y="4782264"/>
            <a:ext cx="59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43990" y="5068014"/>
            <a:ext cx="334154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whisper-small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43990" y="5350907"/>
            <a:ext cx="1799749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~350 ms · private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0625" y="4603194"/>
            <a:ext cx="3602355" cy="1102043"/>
          </a:xfrm>
          <a:prstGeom prst="rect">
            <a:avLst/>
          </a:prstGeom>
          <a:solidFill>
            <a:srgbClr val="F2EEE6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9695" y="4782264"/>
            <a:ext cx="59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79695" y="5068014"/>
            <a:ext cx="334154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whisper-1 API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179695" y="5350907"/>
            <a:ext cx="146554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$0.006/min · 550 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64920" y="5971937"/>
            <a:ext cx="7558202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was chosen for its multilingual robustness (99 languages) — essential for T4 tasks where the participant may code-switch mid-utterance.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372600" y="3227784"/>
            <a:ext cx="7962900" cy="4824413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85020" y="3540205"/>
            <a:ext cx="589233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DETECTION · 3-TIER CASCADE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685020" y="4043124"/>
            <a:ext cx="7338060" cy="903923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23" name="Text 21"/>
          <p:cNvSpPr/>
          <p:nvPr/>
        </p:nvSpPr>
        <p:spPr>
          <a:xfrm>
            <a:off x="9860281" y="4195524"/>
            <a:ext cx="270776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· Unicode script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99086" y="4195524"/>
            <a:ext cx="44779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860281" y="4511755"/>
            <a:ext cx="722071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/ CJK / Cyrillic — instant.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685020" y="5061347"/>
            <a:ext cx="7338060" cy="903923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27" name="Text 25"/>
          <p:cNvSpPr/>
          <p:nvPr/>
        </p:nvSpPr>
        <p:spPr>
          <a:xfrm>
            <a:off x="9860281" y="5213747"/>
            <a:ext cx="24765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· Word n-grams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403717" y="5213747"/>
            <a:ext cx="54316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60281" y="5529977"/>
            <a:ext cx="722071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function words. "est, la" → fr.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685020" y="6079570"/>
            <a:ext cx="7338060" cy="903923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1" name="Text 29"/>
          <p:cNvSpPr/>
          <p:nvPr/>
        </p:nvSpPr>
        <p:spPr>
          <a:xfrm>
            <a:off x="9860281" y="6231970"/>
            <a:ext cx="22479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· langdetect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403717" y="6231970"/>
            <a:ext cx="54316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860281" y="6548200"/>
            <a:ext cx="7220712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trigrams, statistical model.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685020" y="7173992"/>
            <a:ext cx="7558202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language then maps to a </a:t>
            </a:r>
            <a:pPr algn="l"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model </a:t>
            </a:r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en → GPT-4o-mini · fr/ja/zh/ar → Gemini Flash (strongest multilingual).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52500" y="8189357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0180082" y="8189357"/>
            <a:ext cx="129647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System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6547902" y="8189357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31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047559"/>
          </a:xfrm>
          <a:prstGeom prst="rect">
            <a:avLst/>
          </a:prstGeom>
          <a:solidFill>
            <a:srgbClr val="17151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4636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18 — GESTURE &amp; EMOTION PLANNER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text becomes body motion and eye colour.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227784"/>
            <a:ext cx="5334000" cy="1532573"/>
          </a:xfrm>
          <a:prstGeom prst="rect">
            <a:avLst/>
          </a:prstGeom>
          <a:solidFill>
            <a:srgbClr val="1E1C22"/>
          </a:solidFill>
          <a:ln w="7620">
            <a:solidFill>
              <a:srgbClr val="3A38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770" y="3502105"/>
            <a:ext cx="266700" cy="266700"/>
          </a:xfrm>
          <a:prstGeom prst="ellipse">
            <a:avLst/>
          </a:prstGeom>
          <a:solidFill>
            <a:srgbClr val="00AAFF"/>
          </a:solidFill>
          <a:ln/>
          <a:effectLst>
            <a:outerShdw sx="100000" sy="100000" kx="0" ky="0" algn="bl" rotWithShape="0" blurRad="228600" dist="50800" dir="16200000">
              <a:srgbClr val="00AAFF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07820" y="3483055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point_left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7770" y="3921205"/>
            <a:ext cx="496816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response contains "on your left"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770" y="4273630"/>
            <a:ext cx="4968164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#00AAFF · directional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77000" y="3227784"/>
            <a:ext cx="5334000" cy="1532573"/>
          </a:xfrm>
          <a:prstGeom prst="rect">
            <a:avLst/>
          </a:prstGeom>
          <a:solidFill>
            <a:srgbClr val="1E1C22"/>
          </a:solidFill>
          <a:ln w="7620">
            <a:solidFill>
              <a:srgbClr val="3A38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32270" y="3502105"/>
            <a:ext cx="266700" cy="266700"/>
          </a:xfrm>
          <a:prstGeom prst="ellipse">
            <a:avLst/>
          </a:prstGeom>
          <a:solidFill>
            <a:srgbClr val="00AAFF"/>
          </a:solidFill>
          <a:ln/>
          <a:effectLst>
            <a:outerShdw sx="100000" sy="100000" kx="0" ky="0" algn="bl" rotWithShape="0" blurRad="228600" dist="50800" dir="16200000">
              <a:srgbClr val="00AAFF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483055"/>
            <a:ext cx="1584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point_right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32270" y="3921205"/>
            <a:ext cx="496816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response contains "on your right"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32270" y="4273630"/>
            <a:ext cx="4968164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#00AAFF · directional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001500" y="3227784"/>
            <a:ext cx="5334000" cy="1532573"/>
          </a:xfrm>
          <a:prstGeom prst="rect">
            <a:avLst/>
          </a:prstGeom>
          <a:solidFill>
            <a:srgbClr val="1E1C22"/>
          </a:solidFill>
          <a:ln w="7620">
            <a:solidFill>
              <a:srgbClr val="3A38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56770" y="3502105"/>
            <a:ext cx="266700" cy="26670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228600" dist="50800" dir="16200000">
              <a:srgbClr val="00FF88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656820" y="3483055"/>
            <a:ext cx="624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256770" y="3921205"/>
            <a:ext cx="496816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greeting · T3 social opener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256770" y="4273630"/>
            <a:ext cx="4968164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#00FF88 · welcoming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52500" y="4950857"/>
            <a:ext cx="5334000" cy="1532573"/>
          </a:xfrm>
          <a:prstGeom prst="rect">
            <a:avLst/>
          </a:prstGeom>
          <a:solidFill>
            <a:srgbClr val="1E1C22"/>
          </a:solidFill>
          <a:ln w="7620">
            <a:solidFill>
              <a:srgbClr val="3A384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7770" y="5225177"/>
            <a:ext cx="266700" cy="266700"/>
          </a:xfrm>
          <a:prstGeom prst="ellipse">
            <a:avLst/>
          </a:prstGeom>
          <a:solidFill>
            <a:srgbClr val="FFFF00"/>
          </a:solidFill>
          <a:ln/>
          <a:effectLst>
            <a:outerShdw sx="100000" sy="100000" kx="0" ky="0" algn="bl" rotWithShape="0" blurRad="228600" dist="50800" dir="16200000">
              <a:srgbClr val="FFFF00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607820" y="5206127"/>
            <a:ext cx="76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07770" y="5644277"/>
            <a:ext cx="496816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complex or slow query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07770" y="5996702"/>
            <a:ext cx="4968164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#FFFF00 · processing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77000" y="4950857"/>
            <a:ext cx="5334000" cy="1532573"/>
          </a:xfrm>
          <a:prstGeom prst="rect">
            <a:avLst/>
          </a:prstGeom>
          <a:solidFill>
            <a:srgbClr val="1E1C22"/>
          </a:solidFill>
          <a:ln w="7620">
            <a:solidFill>
              <a:srgbClr val="3A38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32270" y="5225177"/>
            <a:ext cx="266700" cy="2667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16200000">
              <a:srgbClr val="FFFFFF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32320" y="5206127"/>
            <a:ext cx="1584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show_tablet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32270" y="5644277"/>
            <a:ext cx="496816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result best shown visually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32270" y="5996702"/>
            <a:ext cx="4968164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#FFFFFF · neutral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2001500" y="4950857"/>
            <a:ext cx="5334000" cy="1532573"/>
          </a:xfrm>
          <a:prstGeom prst="rect">
            <a:avLst/>
          </a:prstGeom>
          <a:solidFill>
            <a:srgbClr val="1E1C22"/>
          </a:solidFill>
          <a:ln w="7620">
            <a:solidFill>
              <a:srgbClr val="3A384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256770" y="5225177"/>
            <a:ext cx="266700" cy="266700"/>
          </a:xfrm>
          <a:prstGeom prst="ellipse">
            <a:avLst/>
          </a:prstGeom>
          <a:solidFill>
            <a:srgbClr val="FF8800"/>
          </a:solidFill>
          <a:ln/>
          <a:effectLst>
            <a:outerShdw sx="100000" sy="100000" kx="0" ky="0" algn="bl" rotWithShape="0" blurRad="228600" dist="50800" dir="16200000">
              <a:srgbClr val="FF8800">
                <a:alpha val="10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2656820" y="5206127"/>
            <a:ext cx="1722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wave_goodbye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256770" y="5644277"/>
            <a:ext cx="496816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farewell intent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256770" y="5996702"/>
            <a:ext cx="4968164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#FF8800 · closing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952500" y="6807279"/>
            <a:ext cx="16383000" cy="1478280"/>
          </a:xfrm>
          <a:prstGeom prst="rect">
            <a:avLst/>
          </a:prstGeom>
          <a:solidFill>
            <a:srgbClr val="1E1C22"/>
          </a:solidFill>
          <a:ln/>
        </p:spPr>
      </p:sp>
      <p:sp>
        <p:nvSpPr>
          <p:cNvPr id="39" name="Text 37"/>
          <p:cNvSpPr/>
          <p:nvPr/>
        </p:nvSpPr>
        <p:spPr>
          <a:xfrm>
            <a:off x="1184910" y="7016829"/>
            <a:ext cx="3387897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BY DESIGN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184910" y="7355920"/>
            <a:ext cx="1641927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B8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rule-based planner is fast (&lt; 10 ms), auditable, and independent of the LLM backend — so gesture quality never confounds our LLM comparison.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952500" y="8422720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0180082" y="8422720"/>
            <a:ext cx="129647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System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6547902" y="8422720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31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767525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68509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19 — FIVE EXPERIMENTAL CONDITIONS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condition isolates one source of quality.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227784"/>
            <a:ext cx="3139440" cy="381000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9" name="Text 7"/>
          <p:cNvSpPr/>
          <p:nvPr/>
        </p:nvSpPr>
        <p:spPr>
          <a:xfrm>
            <a:off x="1177290" y="3452574"/>
            <a:ext cx="277055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177290" y="4271724"/>
            <a:ext cx="27705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spc="-42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Cloud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77290" y="4698444"/>
            <a:ext cx="70961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7290" y="4873705"/>
            <a:ext cx="27705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77290" y="5264229"/>
            <a:ext cx="461367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7290" y="5439489"/>
            <a:ext cx="27705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7290" y="6581537"/>
            <a:ext cx="2770556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· single cloud model.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63390" y="3227784"/>
            <a:ext cx="3139440" cy="381000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17" name="Text 15"/>
          <p:cNvSpPr/>
          <p:nvPr/>
        </p:nvSpPr>
        <p:spPr>
          <a:xfrm>
            <a:off x="4488180" y="3452574"/>
            <a:ext cx="277055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4488180" y="4271724"/>
            <a:ext cx="27705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spc="-42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Local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488180" y="4698444"/>
            <a:ext cx="70961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8180" y="4873705"/>
            <a:ext cx="27705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Llama3:8b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88180" y="5264229"/>
            <a:ext cx="461367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8180" y="5439489"/>
            <a:ext cx="27705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88180" y="6581537"/>
            <a:ext cx="2770556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good is free/offline?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574280" y="3227784"/>
            <a:ext cx="3139440" cy="381000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25" name="Text 23"/>
          <p:cNvSpPr/>
          <p:nvPr/>
        </p:nvSpPr>
        <p:spPr>
          <a:xfrm>
            <a:off x="7799070" y="3452574"/>
            <a:ext cx="277055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7799070" y="4271724"/>
            <a:ext cx="27705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spc="-42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Routed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799070" y="4698444"/>
            <a:ext cx="70961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99070" y="4873705"/>
            <a:ext cx="27705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per-task router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99070" y="5264229"/>
            <a:ext cx="461367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99070" y="5439489"/>
            <a:ext cx="27705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99070" y="6581537"/>
            <a:ext cx="2770556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central hypothesis.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0885170" y="3227784"/>
            <a:ext cx="3139440" cy="381000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33" name="Text 31"/>
          <p:cNvSpPr/>
          <p:nvPr/>
        </p:nvSpPr>
        <p:spPr>
          <a:xfrm>
            <a:off x="11109960" y="3452574"/>
            <a:ext cx="277055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5400" dirty="0"/>
          </a:p>
        </p:txBody>
      </p:sp>
      <p:sp>
        <p:nvSpPr>
          <p:cNvPr id="34" name="Text 32"/>
          <p:cNvSpPr/>
          <p:nvPr/>
        </p:nvSpPr>
        <p:spPr>
          <a:xfrm>
            <a:off x="11109960" y="4271724"/>
            <a:ext cx="27705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spc="-42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1109960" y="4698444"/>
            <a:ext cx="70961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109960" y="4873705"/>
            <a:ext cx="27705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+ Claude + Gemini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109960" y="5264229"/>
            <a:ext cx="461367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109960" y="5439489"/>
            <a:ext cx="27705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109960" y="6581537"/>
            <a:ext cx="2770556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council beat any one?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4196060" y="3227784"/>
            <a:ext cx="3139440" cy="381000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41" name="Text 39"/>
          <p:cNvSpPr/>
          <p:nvPr/>
        </p:nvSpPr>
        <p:spPr>
          <a:xfrm>
            <a:off x="14420850" y="3452574"/>
            <a:ext cx="277055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5400" dirty="0"/>
          </a:p>
        </p:txBody>
      </p:sp>
      <p:sp>
        <p:nvSpPr>
          <p:cNvPr id="42" name="Text 40"/>
          <p:cNvSpPr/>
          <p:nvPr/>
        </p:nvSpPr>
        <p:spPr>
          <a:xfrm>
            <a:off x="14420850" y="4271724"/>
            <a:ext cx="27705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spc="-42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No-RAG Ctrl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4420850" y="4698444"/>
            <a:ext cx="70961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420850" y="4873705"/>
            <a:ext cx="27705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4420850" y="5264229"/>
            <a:ext cx="461367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4420850" y="5439489"/>
            <a:ext cx="27705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OFF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4420850" y="6581537"/>
            <a:ext cx="2770556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Isolates the RAG contribution.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952500" y="7342584"/>
            <a:ext cx="16383000" cy="66294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49" name="Text 47"/>
          <p:cNvSpPr/>
          <p:nvPr/>
        </p:nvSpPr>
        <p:spPr>
          <a:xfrm>
            <a:off x="1143000" y="7533084"/>
            <a:ext cx="16493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◼ within-subjects · 3 conditions per participant · counterbalanced via Latin square · target N = 20 → 240 data points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952500" y="8142684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9966008" y="8142684"/>
            <a:ext cx="172462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Experiment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6547902" y="8142684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31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773245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05572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20 — EXPERIMENTAL DESIGN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1281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and dependent variables — what varies, what we measure.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849529"/>
            <a:ext cx="8020050" cy="371856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5870" y="4142899"/>
            <a:ext cx="353542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VARIABLES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245870" y="4958239"/>
            <a:ext cx="743331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1" name="Text 9"/>
          <p:cNvSpPr/>
          <p:nvPr/>
        </p:nvSpPr>
        <p:spPr>
          <a:xfrm>
            <a:off x="1245870" y="4588669"/>
            <a:ext cx="2171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Backend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474720" y="4588669"/>
            <a:ext cx="53605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models · cloud + local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45870" y="5468779"/>
            <a:ext cx="743331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4" name="Text 12"/>
          <p:cNvSpPr/>
          <p:nvPr/>
        </p:nvSpPr>
        <p:spPr>
          <a:xfrm>
            <a:off x="1245870" y="5099209"/>
            <a:ext cx="2171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Condition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474720" y="5099209"/>
            <a:ext cx="53605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vs. off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45870" y="5979319"/>
            <a:ext cx="743331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7" name="Text 15"/>
          <p:cNvSpPr/>
          <p:nvPr/>
        </p:nvSpPr>
        <p:spPr>
          <a:xfrm>
            <a:off x="1245870" y="5609749"/>
            <a:ext cx="2171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474720" y="5609749"/>
            <a:ext cx="53605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auto-detected · Whisper + LangDet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45870" y="6489859"/>
            <a:ext cx="743331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0" name="Text 18"/>
          <p:cNvSpPr/>
          <p:nvPr/>
        </p:nvSpPr>
        <p:spPr>
          <a:xfrm>
            <a:off x="1245870" y="6120289"/>
            <a:ext cx="2171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Type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474720" y="6120289"/>
            <a:ext cx="53605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· T2 · T3 · T4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45870" y="6630829"/>
            <a:ext cx="21717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Condition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474720" y="6630829"/>
            <a:ext cx="5360594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B · C · D · 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315450" y="3849529"/>
            <a:ext cx="8020050" cy="371856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8820" y="4142899"/>
            <a:ext cx="319879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VARIABLES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608820" y="4569619"/>
            <a:ext cx="10700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641205" y="4939189"/>
            <a:ext cx="368427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model_id used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latency (ms)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count in/out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USD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retrieval score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(0–1)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flag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classification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401675" y="4569619"/>
            <a:ext cx="13302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HUMAN-RATED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434060" y="4939189"/>
            <a:ext cx="368427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(1–7)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naturalness (1–7)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(1–7)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fit (1–7)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(1–7)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Godspeed subscales</a:t>
            </a:r>
            <a:endParaRPr lang="en-US" sz="1350" dirty="0"/>
          </a:p>
          <a:p>
            <a:pPr algn="l" marL="120015" indent="-120015">
              <a:lnSpc>
                <a:spcPct val="150000"/>
              </a:lnSpc>
              <a:buSzPct val="100000"/>
              <a:buChar char="•"/>
              <a:tabLst>
                <a:tab pos="120015" algn="l"/>
              </a:tabLst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preference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52500" y="7834789"/>
            <a:ext cx="3995738" cy="1176457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6628" y="8051959"/>
            <a:ext cx="3707482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2158484" y="8595956"/>
            <a:ext cx="15836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081588" y="7834789"/>
            <a:ext cx="3995738" cy="1176457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25715" y="8051959"/>
            <a:ext cx="3707482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5841564" y="8595956"/>
            <a:ext cx="24756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/ PERSON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9210675" y="7834789"/>
            <a:ext cx="3995738" cy="1176457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802" y="8051959"/>
            <a:ext cx="3707482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200" dirty="0"/>
          </a:p>
        </p:txBody>
      </p:sp>
      <p:sp>
        <p:nvSpPr>
          <p:cNvPr id="38" name="Text 36"/>
          <p:cNvSpPr/>
          <p:nvPr/>
        </p:nvSpPr>
        <p:spPr>
          <a:xfrm>
            <a:off x="10139244" y="8595956"/>
            <a:ext cx="21386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/ CONDITION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3339763" y="7834789"/>
            <a:ext cx="3995738" cy="1176457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483891" y="8051959"/>
            <a:ext cx="3707482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13859521" y="8595956"/>
            <a:ext cx="29561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DATA POINTS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52500" y="9148406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9966008" y="9148406"/>
            <a:ext cx="172462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Experiment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6547902" y="9148406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31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499997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66604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21 — LLM-AS-JUDGE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complementary evaluation patterns, all automated.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227784"/>
            <a:ext cx="5308521" cy="34290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6820" y="3521155"/>
            <a:ext cx="38481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26820" y="3936444"/>
            <a:ext cx="490267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spc="-48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Referenceless (G-Eval)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26820" y="4439364"/>
            <a:ext cx="4902677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scores coherence, helpfulness, fluency and safety on 1–10 — no gold answer required.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226820" y="5214700"/>
            <a:ext cx="4759881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3" name="Text 11"/>
          <p:cNvSpPr/>
          <p:nvPr/>
        </p:nvSpPr>
        <p:spPr>
          <a:xfrm>
            <a:off x="1226820" y="5374720"/>
            <a:ext cx="4902677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· Every interaction.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89621" y="3227784"/>
            <a:ext cx="5308640" cy="34290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3941" y="3521155"/>
            <a:ext cx="38481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763941" y="3936444"/>
            <a:ext cx="49028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spc="-48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Reference-Based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63941" y="4439364"/>
            <a:ext cx="4902800" cy="886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response against a curated gold answer — used for factual T1 / T2 tasks with known ground truth.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763941" y="5497592"/>
            <a:ext cx="4760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9" name="Text 17"/>
          <p:cNvSpPr/>
          <p:nvPr/>
        </p:nvSpPr>
        <p:spPr>
          <a:xfrm>
            <a:off x="6763941" y="5657612"/>
            <a:ext cx="49028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· RAG eval.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026860" y="3227784"/>
            <a:ext cx="5308640" cy="34290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01181" y="3521155"/>
            <a:ext cx="38481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301181" y="3936444"/>
            <a:ext cx="49028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spc="-48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301181" y="4439364"/>
            <a:ext cx="4902800" cy="886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picks between A and B. Runs twice, swapping order, to cancel position bias. Feeds ELO.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2301181" y="5497592"/>
            <a:ext cx="4760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5" name="Text 23"/>
          <p:cNvSpPr/>
          <p:nvPr/>
        </p:nvSpPr>
        <p:spPr>
          <a:xfrm>
            <a:off x="12301181" y="5657612"/>
            <a:ext cx="49028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· Compare conditions.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52500" y="7037784"/>
            <a:ext cx="16383000" cy="1700213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27" name="Text 25"/>
          <p:cNvSpPr/>
          <p:nvPr/>
        </p:nvSpPr>
        <p:spPr>
          <a:xfrm>
            <a:off x="1257300" y="7304484"/>
            <a:ext cx="427761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LATENCY-QUALITY COMPOSITE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257300" y="7681675"/>
            <a:ext cx="1628584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= quality × 0.5 + (1 / latency_ms) × 0.3 + (1 / cost_usd) × 0.2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57300" y="8188404"/>
            <a:ext cx="16285845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Cross-referenced with MMLU and Chatbot-Arena scores — the </a:t>
            </a:r>
            <a:pPr algn="l"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discrepancy </a:t>
            </a:r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text-only and embodied rankings is the key finding (H₁).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52500" y="8875157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966008" y="8875157"/>
            <a:ext cx="172462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Experiment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6547902" y="8875157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31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487489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20608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 · SURVEYS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22 — ELO &amp; PARTICIPANT QUESTIONNAIRES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Chess-style ranking meets validated HRI instruments.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227784"/>
            <a:ext cx="8001000" cy="4497705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4920" y="3540205"/>
            <a:ext cx="404055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EMBODIED ELO LEADERBOARD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64920" y="3947874"/>
            <a:ext cx="7597445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condition starts at 1 500. Pairwise preferences (automatic judge + participant) update the rating. K = 32.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64920" y="4742259"/>
            <a:ext cx="214395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C · Smart Router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78867" y="4742259"/>
            <a:ext cx="63841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 —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64920" y="4978479"/>
            <a:ext cx="7376160" cy="133350"/>
          </a:xfrm>
          <a:prstGeom prst="rect">
            <a:avLst/>
          </a:prstGeom>
          <a:solidFill>
            <a:srgbClr val="F2EEE6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4920" y="5207079"/>
            <a:ext cx="169628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D · Council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78867" y="5207079"/>
            <a:ext cx="63841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 —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64920" y="5443300"/>
            <a:ext cx="7376160" cy="133350"/>
          </a:xfrm>
          <a:prstGeom prst="rect">
            <a:avLst/>
          </a:prstGeom>
          <a:solidFill>
            <a:srgbClr val="F2EEE6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4920" y="5671900"/>
            <a:ext cx="205835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A · GPT-4o-mini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78867" y="5671900"/>
            <a:ext cx="63841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 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264920" y="5908120"/>
            <a:ext cx="7376160" cy="133350"/>
          </a:xfrm>
          <a:prstGeom prst="rect">
            <a:avLst/>
          </a:prstGeom>
          <a:solidFill>
            <a:srgbClr val="F2EEE6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4920" y="6136720"/>
            <a:ext cx="191571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B · Llama3:8b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78867" y="6136720"/>
            <a:ext cx="63841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 —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264920" y="6372939"/>
            <a:ext cx="7376160" cy="133350"/>
          </a:xfrm>
          <a:prstGeom prst="rect">
            <a:avLst/>
          </a:prstGeom>
          <a:solidFill>
            <a:srgbClr val="F2EEE6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4920" y="6601539"/>
            <a:ext cx="175331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E · No RAG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78867" y="6601539"/>
            <a:ext cx="63841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 —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264920" y="6837759"/>
            <a:ext cx="7376160" cy="133350"/>
          </a:xfrm>
          <a:prstGeom prst="rect">
            <a:avLst/>
          </a:prstGeom>
          <a:solidFill>
            <a:srgbClr val="F2EEE6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4920" y="6971109"/>
            <a:ext cx="420562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diagram is illustrative · real ratings added post-experiment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34500" y="3227784"/>
            <a:ext cx="8001000" cy="4497705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3540205"/>
            <a:ext cx="521895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POST-INTERACTION QUESTIONNAIRES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646920" y="4737021"/>
            <a:ext cx="737616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30" name="Text 28"/>
          <p:cNvSpPr/>
          <p:nvPr/>
        </p:nvSpPr>
        <p:spPr>
          <a:xfrm>
            <a:off x="9646920" y="4081224"/>
            <a:ext cx="2019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(1–7)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46920" y="4378405"/>
            <a:ext cx="7597445" cy="28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· naturalness · trust · gesture fit · speed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9646920" y="5629037"/>
            <a:ext cx="737616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33" name="Text 31"/>
          <p:cNvSpPr/>
          <p:nvPr/>
        </p:nvSpPr>
        <p:spPr>
          <a:xfrm>
            <a:off x="9646920" y="4973241"/>
            <a:ext cx="16764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Godspeed (1–5)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46920" y="5270421"/>
            <a:ext cx="7597445" cy="28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anthropomorphism · animacy · likeability · intelligence · safety (Bartneck 2009)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646920" y="6521053"/>
            <a:ext cx="737616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36" name="Text 34"/>
          <p:cNvSpPr/>
          <p:nvPr/>
        </p:nvSpPr>
        <p:spPr>
          <a:xfrm>
            <a:off x="9646920" y="5865257"/>
            <a:ext cx="22479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preference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646920" y="6162437"/>
            <a:ext cx="7597445" cy="28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Pepper did you prefer?" → ELO update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9646920" y="6757273"/>
            <a:ext cx="17907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rating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646920" y="7054453"/>
            <a:ext cx="7597445" cy="28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experimenter-coded gesture sync, task completion, breakdowns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952500" y="7862650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966008" y="7862650"/>
            <a:ext cx="172462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Experiment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6547902" y="7862650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31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4" name="Text 2"/>
          <p:cNvSpPr/>
          <p:nvPr/>
        </p:nvSpPr>
        <p:spPr>
          <a:xfrm>
            <a:off x="2082522" y="476250"/>
            <a:ext cx="12325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23 — RESULTS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2225040"/>
            <a:ext cx="16874490" cy="2679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800" spc="-216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</a:t>
            </a:r>
            <a:pPr algn="l" indent="0" marL="0">
              <a:lnSpc>
                <a:spcPct val="96000"/>
              </a:lnSpc>
              <a:buNone/>
            </a:pPr>
            <a:r>
              <a:rPr lang="en-US" sz="10800" i="1" spc="-216" kern="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results.</a:t>
            </a:r>
            <a:endParaRPr lang="en-US" sz="10800" dirty="0"/>
          </a:p>
        </p:txBody>
      </p:sp>
      <p:sp>
        <p:nvSpPr>
          <p:cNvPr id="7" name="Text 5"/>
          <p:cNvSpPr/>
          <p:nvPr/>
        </p:nvSpPr>
        <p:spPr>
          <a:xfrm>
            <a:off x="952500" y="5247084"/>
            <a:ext cx="11772900" cy="83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slides that follow reserve space for the quantitative and qualitative findings from the 20-participant study. They will be filled in once data collection concludes.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906500" y="3589734"/>
            <a:ext cx="3429000" cy="1878330"/>
          </a:xfrm>
          <a:prstGeom prst="rect">
            <a:avLst/>
          </a:prstGeom>
          <a:solidFill>
            <a:srgbClr val="7A2020">
              <a:alpha val="67000"/>
            </a:srgbClr>
          </a:solidFill>
          <a:ln w="7620">
            <a:solidFill>
              <a:srgbClr val="FBF9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42720" y="3825955"/>
            <a:ext cx="225468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PLACEHOLDER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142720" y="4203144"/>
            <a:ext cx="304525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two slides are intentionally sparse. Insert charts, tables and quotes once the experiment is complete.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2500" y="6176725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217587" y="6176725"/>
            <a:ext cx="122146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 Results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547902" y="6176725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31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003995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73009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 · TBD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24 — QUANTITATIVE RESULTS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Per-condition performance — reserved for post-study analysis.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52500" y="3227784"/>
            <a:ext cx="597487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 · LIKERT MEANS PER CONDITION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52500" y="3604974"/>
            <a:ext cx="8048625" cy="3048000"/>
          </a:xfrm>
          <a:prstGeom prst="rect">
            <a:avLst/>
          </a:prstGeom>
          <a:solidFill>
            <a:srgbClr val="E8E2D4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4782264"/>
            <a:ext cx="8033385" cy="69342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11" name="Text 9"/>
          <p:cNvSpPr/>
          <p:nvPr/>
        </p:nvSpPr>
        <p:spPr>
          <a:xfrm>
            <a:off x="1131570" y="4877514"/>
            <a:ext cx="7931487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FIGURE 1 · GROUPED BAR CHART · 5 CONDITIONS × 5 LIKERT SCALES · 95% CI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286875" y="3227784"/>
            <a:ext cx="607788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 · LATENCY VS. QUALITY SCATTER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286875" y="3604974"/>
            <a:ext cx="8048625" cy="3048000"/>
          </a:xfrm>
          <a:prstGeom prst="rect">
            <a:avLst/>
          </a:prstGeom>
          <a:solidFill>
            <a:srgbClr val="E8E2D4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94495" y="4782264"/>
            <a:ext cx="8033385" cy="69342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15" name="Text 13"/>
          <p:cNvSpPr/>
          <p:nvPr/>
        </p:nvSpPr>
        <p:spPr>
          <a:xfrm>
            <a:off x="9465945" y="4877514"/>
            <a:ext cx="7931487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FIGURE 2 · SCATTER · ONE POINT PER MODEL · COLOUR BY CONDITION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52500" y="6938725"/>
            <a:ext cx="569477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 · EMBODIED ELO LEADERBOARD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2500" y="7315914"/>
            <a:ext cx="8048625" cy="2095500"/>
          </a:xfrm>
          <a:prstGeom prst="rect">
            <a:avLst/>
          </a:prstGeom>
          <a:solidFill>
            <a:srgbClr val="E8E2D4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9317" y="8138875"/>
            <a:ext cx="7554992" cy="44958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19" name="Text 17"/>
          <p:cNvSpPr/>
          <p:nvPr/>
        </p:nvSpPr>
        <p:spPr>
          <a:xfrm>
            <a:off x="1370767" y="8234125"/>
            <a:ext cx="743874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TABLE 1 · MODEL · EMBODIED ELO · TEXT ELO · Δ RANK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286875" y="6938725"/>
            <a:ext cx="491408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 · RAG VS. NO-RAG DELTA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286875" y="7315914"/>
            <a:ext cx="8048625" cy="2095500"/>
          </a:xfrm>
          <a:prstGeom prst="rect">
            <a:avLst/>
          </a:prstGeom>
          <a:solidFill>
            <a:srgbClr val="E8E2D4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94495" y="8016954"/>
            <a:ext cx="8033385" cy="69342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23" name="Text 21"/>
          <p:cNvSpPr/>
          <p:nvPr/>
        </p:nvSpPr>
        <p:spPr>
          <a:xfrm>
            <a:off x="9465945" y="8112204"/>
            <a:ext cx="7931487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FIGURE 3 · PAIRED DOT PLOT · ACCURACY &amp; TRUST · A VS E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52500" y="9640014"/>
            <a:ext cx="16383000" cy="60198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25" name="Text 23"/>
          <p:cNvSpPr/>
          <p:nvPr/>
        </p:nvSpPr>
        <p:spPr>
          <a:xfrm>
            <a:off x="1123950" y="9811464"/>
            <a:ext cx="165315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 statistical plan · repeated-measures ANOVA on Likert · Spearman ρ for H₁ · Wilcoxon paired for H₃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52500" y="10379155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217587" y="10379155"/>
            <a:ext cx="122146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 Results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6547902" y="10379155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31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62465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53400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· TBD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25 — QUALITATIVE FINDINGS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 from semi-structured debrief interviews — reserved.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227784"/>
            <a:ext cx="5321261" cy="34290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6820" y="3502105"/>
            <a:ext cx="420881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A · TRUST &amp; LATENCY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226820" y="3966924"/>
            <a:ext cx="22860" cy="32194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1" name="Text 9"/>
          <p:cNvSpPr/>
          <p:nvPr/>
        </p:nvSpPr>
        <p:spPr>
          <a:xfrm>
            <a:off x="1383030" y="3966924"/>
            <a:ext cx="475958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"[ participant quote — to be inserted after coding ]"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26820" y="4479369"/>
            <a:ext cx="4772620" cy="1143000"/>
          </a:xfrm>
          <a:prstGeom prst="rect">
            <a:avLst/>
          </a:prstGeom>
          <a:solidFill>
            <a:srgbClr val="E8E2D4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4246" y="4826080"/>
            <a:ext cx="4057650" cy="44958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14" name="Text 12"/>
          <p:cNvSpPr/>
          <p:nvPr/>
        </p:nvSpPr>
        <p:spPr>
          <a:xfrm>
            <a:off x="1755696" y="4921330"/>
            <a:ext cx="383647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CODED FREQUENCY CHART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26820" y="5622370"/>
            <a:ext cx="25448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P_xx, condition _, _ language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83311" y="3227784"/>
            <a:ext cx="5321261" cy="34290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57631" y="3502105"/>
            <a:ext cx="404055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B · CODE-SWITCHING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757631" y="3966924"/>
            <a:ext cx="22860" cy="32194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9" name="Text 17"/>
          <p:cNvSpPr/>
          <p:nvPr/>
        </p:nvSpPr>
        <p:spPr>
          <a:xfrm>
            <a:off x="6913841" y="3966924"/>
            <a:ext cx="475958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"[ participant quote — to be inserted after coding ]"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757631" y="4479369"/>
            <a:ext cx="4772620" cy="1143000"/>
          </a:xfrm>
          <a:prstGeom prst="rect">
            <a:avLst/>
          </a:prstGeom>
          <a:solidFill>
            <a:srgbClr val="E8E2D4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5056" y="4826080"/>
            <a:ext cx="4057650" cy="44958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22" name="Text 20"/>
          <p:cNvSpPr/>
          <p:nvPr/>
        </p:nvSpPr>
        <p:spPr>
          <a:xfrm>
            <a:off x="7286506" y="4921330"/>
            <a:ext cx="383647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CODED FREQUENCY CHART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757631" y="5622370"/>
            <a:ext cx="25448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P_xx, condition _, _ language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2014121" y="3227784"/>
            <a:ext cx="5321261" cy="34290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88441" y="3502105"/>
            <a:ext cx="454556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C · GESTURE ALIGNMENT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2288441" y="3966924"/>
            <a:ext cx="22860" cy="32194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7" name="Text 25"/>
          <p:cNvSpPr/>
          <p:nvPr/>
        </p:nvSpPr>
        <p:spPr>
          <a:xfrm>
            <a:off x="12444651" y="3966924"/>
            <a:ext cx="475958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"[ participant quote — to be inserted after coding ]"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2288441" y="4479369"/>
            <a:ext cx="4772620" cy="1143000"/>
          </a:xfrm>
          <a:prstGeom prst="rect">
            <a:avLst/>
          </a:prstGeom>
          <a:solidFill>
            <a:srgbClr val="E8E2D4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645866" y="4826080"/>
            <a:ext cx="4057650" cy="44958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30" name="Text 28"/>
          <p:cNvSpPr/>
          <p:nvPr/>
        </p:nvSpPr>
        <p:spPr>
          <a:xfrm>
            <a:off x="12817316" y="4921330"/>
            <a:ext cx="383647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CODED FREQUENCY CHART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2288441" y="5622370"/>
            <a:ext cx="25448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P_xx, condition _, _ language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52500" y="6923484"/>
            <a:ext cx="8096250" cy="939165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33" name="Text 31"/>
          <p:cNvSpPr/>
          <p:nvPr/>
        </p:nvSpPr>
        <p:spPr>
          <a:xfrm>
            <a:off x="1165860" y="7113984"/>
            <a:ext cx="149744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method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165860" y="7414975"/>
            <a:ext cx="792316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Thematic analysis (Braun &amp; Clarke 2006) · 2 coders · Cohen's κ target ≥ 0.7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239250" y="6923484"/>
            <a:ext cx="8096250" cy="939165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36" name="Text 34"/>
          <p:cNvSpPr/>
          <p:nvPr/>
        </p:nvSpPr>
        <p:spPr>
          <a:xfrm>
            <a:off x="9452610" y="7113984"/>
            <a:ext cx="127992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Triangulation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452610" y="7414975"/>
            <a:ext cx="792316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Cross-checked against log metrics and observer notes to avoid self-report bias.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52500" y="7999809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217587" y="7999809"/>
            <a:ext cx="122146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 Results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6547902" y="7999809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31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241745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92761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26 — KNOWN LIMITATIONS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5697200" cy="667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study </a:t>
            </a:r>
            <a:pPr algn="l" indent="0" marL="0">
              <a:lnSpc>
                <a:spcPct val="102000"/>
              </a:lnSpc>
              <a:buNone/>
            </a:pPr>
            <a:r>
              <a:rPr lang="en-US" sz="4800" i="1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</a:t>
            </a:r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235405"/>
            <a:ext cx="8077200" cy="9525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6820" y="3490674"/>
            <a:ext cx="93345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236470" y="3490674"/>
            <a:ext cx="67144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spc="-42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platform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258300" y="3235405"/>
            <a:ext cx="8077200" cy="9525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32620" y="3490674"/>
            <a:ext cx="93345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542270" y="3490674"/>
            <a:ext cx="67144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spc="-42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2500" y="4416505"/>
            <a:ext cx="8077200" cy="9525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6820" y="4671774"/>
            <a:ext cx="93345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236470" y="4671774"/>
            <a:ext cx="67144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spc="-42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setting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258300" y="4416505"/>
            <a:ext cx="8077200" cy="9525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32620" y="4671774"/>
            <a:ext cx="93345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542270" y="4671774"/>
            <a:ext cx="67144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spc="-42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target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2500" y="5597604"/>
            <a:ext cx="8077200" cy="9525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6820" y="5852875"/>
            <a:ext cx="93345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236470" y="5852875"/>
            <a:ext cx="67144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spc="-42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English-centric recruitment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258300" y="5597604"/>
            <a:ext cx="8077200" cy="95250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32620" y="5852875"/>
            <a:ext cx="93345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542270" y="5852875"/>
            <a:ext cx="67144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spc="-42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long-term adoption data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52500" y="6816804"/>
            <a:ext cx="16383000" cy="66294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7007304"/>
            <a:ext cx="16493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◼ Threats-to-validity table is reported in full in Chapter 6 of the thesis, with mitigation strategies for each.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52500" y="7616904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979700" y="7616904"/>
            <a:ext cx="169723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VI. Discussion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6547902" y="7616904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31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4" name="Text 2"/>
          <p:cNvSpPr/>
          <p:nvPr/>
        </p:nvSpPr>
        <p:spPr>
          <a:xfrm>
            <a:off x="2082522" y="476250"/>
            <a:ext cx="21922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27 — CONTRIBUTIONS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2225040"/>
            <a:ext cx="16874490" cy="2054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100" spc="-162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this thesis </a:t>
            </a:r>
            <a:pPr algn="l" indent="0" marL="0">
              <a:lnSpc>
                <a:spcPct val="98000"/>
              </a:lnSpc>
              <a:buNone/>
            </a:pPr>
            <a:r>
              <a:rPr lang="en-US" sz="8100" i="1" spc="-162" kern="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 behind.</a:t>
            </a:r>
            <a:endParaRPr lang="en-US" sz="8100" dirty="0"/>
          </a:p>
        </p:txBody>
      </p:sp>
      <p:sp>
        <p:nvSpPr>
          <p:cNvPr id="7" name="Shape 5"/>
          <p:cNvSpPr/>
          <p:nvPr/>
        </p:nvSpPr>
        <p:spPr>
          <a:xfrm>
            <a:off x="952500" y="4812744"/>
            <a:ext cx="8020050" cy="1524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5056584"/>
            <a:ext cx="284438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CONTRIBUTION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52500" y="5452825"/>
            <a:ext cx="8260652" cy="465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spc="-66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open-source framework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52500" y="6032659"/>
            <a:ext cx="8260652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— 19 models, 5 routing conditions, RAG + Consensus, ROS + NAOqi bridge. MIT licensed.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315450" y="4812744"/>
            <a:ext cx="8020050" cy="1524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12" name="Text 10"/>
          <p:cNvSpPr/>
          <p:nvPr/>
        </p:nvSpPr>
        <p:spPr>
          <a:xfrm>
            <a:off x="9315450" y="5056584"/>
            <a:ext cx="284438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· CONTRIBUTION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315450" y="5452825"/>
            <a:ext cx="8260652" cy="465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spc="-66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experimental protocol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315450" y="6032659"/>
            <a:ext cx="8260652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task types × five conditions, counterbalanced, with a latency-quality composite metric and pairwise ELO on the robot.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500" y="7095649"/>
            <a:ext cx="8020050" cy="1524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7339489"/>
            <a:ext cx="284438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CONTRIBUTION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52500" y="7735729"/>
            <a:ext cx="8260652" cy="465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spc="-66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empirical dataset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52500" y="8315563"/>
            <a:ext cx="8260652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interaction data points, synchronised transcripts + videos + metrics, released for reuse by the HRI community.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315450" y="7095649"/>
            <a:ext cx="8020050" cy="1524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20" name="Text 18"/>
          <p:cNvSpPr/>
          <p:nvPr/>
        </p:nvSpPr>
        <p:spPr>
          <a:xfrm>
            <a:off x="9315450" y="7339489"/>
            <a:ext cx="284438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· CONTRIBUTION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315450" y="7735729"/>
            <a:ext cx="8260652" cy="465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spc="-66" kern="0" dirty="0">
                <a:solidFill>
                  <a:srgbClr val="FB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evaluation instrument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315450" y="8315563"/>
            <a:ext cx="8260652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F2D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Adapted Godspeed + latency-aware Likert battery + automatic judge — ready to drop into other embodied-LLM studies.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52500" y="9172813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979700" y="9172813"/>
            <a:ext cx="169723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VI. Discussion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6547902" y="9172813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31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000899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34112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28 — ROADMAP &amp; FUTURE WORK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done — what's next.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323034"/>
            <a:ext cx="16383000" cy="510159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64920" y="3928825"/>
            <a:ext cx="1575816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0" name="Text 8"/>
          <p:cNvSpPr/>
          <p:nvPr/>
        </p:nvSpPr>
        <p:spPr>
          <a:xfrm>
            <a:off x="3341370" y="3635455"/>
            <a:ext cx="176498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49203" y="3635455"/>
            <a:ext cx="176498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57035" y="3635455"/>
            <a:ext cx="176498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64868" y="3635455"/>
            <a:ext cx="176498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172700" y="3635455"/>
            <a:ext cx="176498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0533" y="3635455"/>
            <a:ext cx="176498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588365" y="3635455"/>
            <a:ext cx="176498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5296198" y="3635455"/>
            <a:ext cx="176498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64920" y="4347924"/>
            <a:ext cx="1575816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19" name="Text 17"/>
          <p:cNvSpPr/>
          <p:nvPr/>
        </p:nvSpPr>
        <p:spPr>
          <a:xfrm>
            <a:off x="1264920" y="4031694"/>
            <a:ext cx="21717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64920" y="4988004"/>
            <a:ext cx="1575816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1" name="Text 19"/>
          <p:cNvSpPr/>
          <p:nvPr/>
        </p:nvSpPr>
        <p:spPr>
          <a:xfrm>
            <a:off x="1264920" y="4450794"/>
            <a:ext cx="21717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v1 (19 models)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64920" y="5628085"/>
            <a:ext cx="1575816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3" name="Text 21"/>
          <p:cNvSpPr/>
          <p:nvPr/>
        </p:nvSpPr>
        <p:spPr>
          <a:xfrm>
            <a:off x="1264920" y="5090875"/>
            <a:ext cx="21717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Consensus modules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64920" y="6047184"/>
            <a:ext cx="1575816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5" name="Text 23"/>
          <p:cNvSpPr/>
          <p:nvPr/>
        </p:nvSpPr>
        <p:spPr>
          <a:xfrm>
            <a:off x="1264920" y="5730954"/>
            <a:ext cx="21717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Pepper integration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64920" y="6466284"/>
            <a:ext cx="1575816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27" name="Text 25"/>
          <p:cNvSpPr/>
          <p:nvPr/>
        </p:nvSpPr>
        <p:spPr>
          <a:xfrm>
            <a:off x="1264920" y="6150054"/>
            <a:ext cx="21717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study (N=5)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210800" y="6155770"/>
            <a:ext cx="1688783" cy="209550"/>
          </a:xfrm>
          <a:prstGeom prst="rect">
            <a:avLst/>
          </a:prstGeom>
          <a:ln w="7620">
            <a:solidFill>
              <a:srgbClr val="7A7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64920" y="6885384"/>
            <a:ext cx="1575816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30" name="Text 28"/>
          <p:cNvSpPr/>
          <p:nvPr/>
        </p:nvSpPr>
        <p:spPr>
          <a:xfrm>
            <a:off x="1264920" y="6569154"/>
            <a:ext cx="21717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user study (N=20)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1918633" y="6574870"/>
            <a:ext cx="1688783" cy="209550"/>
          </a:xfrm>
          <a:prstGeom prst="rect">
            <a:avLst/>
          </a:prstGeom>
          <a:ln w="7620">
            <a:solidFill>
              <a:srgbClr val="7A7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4920" y="7304484"/>
            <a:ext cx="1575816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33" name="Text 31"/>
          <p:cNvSpPr/>
          <p:nvPr/>
        </p:nvSpPr>
        <p:spPr>
          <a:xfrm>
            <a:off x="1264920" y="6988254"/>
            <a:ext cx="21717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+ writing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3626465" y="6993970"/>
            <a:ext cx="1688783" cy="209550"/>
          </a:xfrm>
          <a:prstGeom prst="rect">
            <a:avLst/>
          </a:prstGeom>
          <a:ln w="7620">
            <a:solidFill>
              <a:srgbClr val="7A76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4920" y="7407354"/>
            <a:ext cx="21717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512570" y="7914084"/>
            <a:ext cx="45767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2370296" y="7914084"/>
            <a:ext cx="92440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3447097" y="7946470"/>
            <a:ext cx="171450" cy="133350"/>
          </a:xfrm>
          <a:prstGeom prst="rect">
            <a:avLst/>
          </a:prstGeom>
          <a:solidFill>
            <a:srgbClr val="7A7680"/>
          </a:solidFill>
          <a:ln w="7620">
            <a:solidFill>
              <a:srgbClr val="7A76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94747" y="7914084"/>
            <a:ext cx="81962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914424" y="7914084"/>
            <a:ext cx="80998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952500" y="8691325"/>
            <a:ext cx="5346621" cy="1547574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42" name="Text 40"/>
          <p:cNvSpPr/>
          <p:nvPr/>
        </p:nvSpPr>
        <p:spPr>
          <a:xfrm>
            <a:off x="1165860" y="8889445"/>
            <a:ext cx="69758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FW 1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165860" y="9224725"/>
            <a:ext cx="5091043" cy="271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spc="-3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study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65860" y="9534049"/>
            <a:ext cx="50910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trust and novelty-decay over 4-week repeated visits.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470571" y="8691325"/>
            <a:ext cx="5346740" cy="1547574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46" name="Text 44"/>
          <p:cNvSpPr/>
          <p:nvPr/>
        </p:nvSpPr>
        <p:spPr>
          <a:xfrm>
            <a:off x="6683931" y="8889445"/>
            <a:ext cx="69758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FW 2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683931" y="9224725"/>
            <a:ext cx="5091166" cy="271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spc="-3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Task-adaptive routing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683931" y="9534049"/>
            <a:ext cx="50911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Reinforcement-learned router that updates per interaction.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1988760" y="8691325"/>
            <a:ext cx="5346740" cy="1547574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50" name="Text 48"/>
          <p:cNvSpPr/>
          <p:nvPr/>
        </p:nvSpPr>
        <p:spPr>
          <a:xfrm>
            <a:off x="12202120" y="8889445"/>
            <a:ext cx="69758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FW 3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2202120" y="9224725"/>
            <a:ext cx="5091166" cy="271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spc="-3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Embodied Arena v2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202120" y="9534049"/>
            <a:ext cx="509116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the framework to NAO and TurtleBot4 — cross-platform ranking.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52500" y="10376059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9979700" y="10376059"/>
            <a:ext cx="169723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VI. Discussion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6547902" y="10376059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31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558224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476250"/>
            <a:ext cx="3680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72922" y="593407"/>
            <a:ext cx="381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5" name="Text 3"/>
          <p:cNvSpPr/>
          <p:nvPr/>
        </p:nvSpPr>
        <p:spPr>
          <a:xfrm>
            <a:off x="2082522" y="476250"/>
            <a:ext cx="180177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1714500"/>
            <a:ext cx="168744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29 — SELECTED REFERENCES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2225040"/>
            <a:ext cx="1687449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96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literature this thesis builds on.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52500" y="3189684"/>
            <a:ext cx="8001000" cy="335661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406855"/>
            <a:ext cx="23645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EVALUATION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45870" y="3814524"/>
            <a:ext cx="7547610" cy="2457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Chiang et al. (2024) — Chatbot Arena: an open platform for evaluating LLMs by human preference. ICML.</a:t>
            </a:r>
            <a:endParaRPr lang="en-US" sz="1500" dirty="0"/>
          </a:p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Zheng et al. (2024) — Judging LLM-as-a-judge with MT-Bench and Chatbot Arena. NeurIPS.</a:t>
            </a:r>
            <a:endParaRPr lang="en-US" sz="1500" dirty="0"/>
          </a:p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et al. (2025) — LiveBench: a challenging, contamination-free LLM benchmark. ICLR.</a:t>
            </a:r>
            <a:endParaRPr lang="en-US" sz="1500" dirty="0"/>
          </a:p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Sainz et al. (2023) — NLP evaluation in trouble: on the need to measure LLM data contamination.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334500" y="3189684"/>
            <a:ext cx="8001000" cy="335661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70720" y="3406855"/>
            <a:ext cx="353542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HRI &amp; EMBODIED AGENTS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627870" y="3814524"/>
            <a:ext cx="754761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Bartneck et al. (2009) — Measurement instruments for anthropomorphism, animacy, likeability, perceived intelligence and perceived safety of robots. Int. J. Social Robotics.</a:t>
            </a:r>
            <a:endParaRPr lang="en-US" sz="1500" dirty="0"/>
          </a:p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Tanevska et al. (2020) — Socially adaptive HRI for the Pepper robot.</a:t>
            </a:r>
            <a:endParaRPr lang="en-US" sz="1500" dirty="0"/>
          </a:p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Sgorbissa et al. (2018) — Integrated framework for CAIR project (CAReS).</a:t>
            </a:r>
            <a:endParaRPr lang="en-US" sz="1500" dirty="0"/>
          </a:p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Grassi et al. (2023) — LLM-driven dialogue for socially-assistive robots.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2500" y="6927295"/>
            <a:ext cx="8001000" cy="246126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7144464"/>
            <a:ext cx="50505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45870" y="7552134"/>
            <a:ext cx="754761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et al. (2020) — Retrieval-augmented generation for knowledge-intensive NLP tasks. NeurIPS.</a:t>
            </a:r>
            <a:endParaRPr lang="en-US" sz="1500" dirty="0"/>
          </a:p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Gao et al. (2024) — Retrieval-augmented generation for LLMs: a survey.</a:t>
            </a:r>
            <a:endParaRPr lang="en-US" sz="1500" dirty="0"/>
          </a:p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et al. (2024) — RAGAS: automated evaluation of RAG.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334500" y="6927295"/>
            <a:ext cx="8001000" cy="2461260"/>
          </a:xfrm>
          <a:prstGeom prst="rect">
            <a:avLst/>
          </a:prstGeom>
          <a:solidFill>
            <a:srgbClr val="FBF9F3"/>
          </a:solidFill>
          <a:ln w="7620">
            <a:solidFill>
              <a:srgbClr val="CFC7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0720" y="7144464"/>
            <a:ext cx="319879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&amp; ENSEMBLES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627870" y="7552134"/>
            <a:ext cx="754761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 et al. (2024) — RouteLLM: learning to route LLMs with preference data.</a:t>
            </a:r>
            <a:endParaRPr lang="en-US" sz="1500" dirty="0"/>
          </a:p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et al. (2024) — FrugalGPT: how to use LLMs while reducing cost and improving performance.</a:t>
            </a:r>
            <a:endParaRPr lang="en-US" sz="1500" dirty="0"/>
          </a:p>
          <a:p>
            <a:pPr algn="l" marL="133350" indent="-133350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Jiang et al. (2023) — LLM-Blender: ensembling large language models with pairwise ranking and generative fusion.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500" y="9598104"/>
            <a:ext cx="168744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bibliography · 74 entries · see thesis §references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52500" y="9933384"/>
            <a:ext cx="42024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OMNILLM · EMBODIED LLM ARENA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036612" y="9933384"/>
            <a:ext cx="158353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VII. Appendix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6547902" y="9933384"/>
            <a:ext cx="86379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31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508909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143000"/>
            <a:ext cx="45128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30 — END OF PRESENTATION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006762" y="1143000"/>
            <a:ext cx="121443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31 / 31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402080"/>
            <a:ext cx="16482060" cy="1510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600" spc="-252" kern="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2600" dirty="0"/>
          </a:p>
        </p:txBody>
      </p:sp>
      <p:sp>
        <p:nvSpPr>
          <p:cNvPr id="6" name="Text 4"/>
          <p:cNvSpPr/>
          <p:nvPr/>
        </p:nvSpPr>
        <p:spPr>
          <a:xfrm>
            <a:off x="1143000" y="3217069"/>
            <a:ext cx="14716125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i="1" spc="-90" kern="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welcome your questions — about the framework, the protocol, or any choice that looks strange.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143000" y="4314349"/>
            <a:ext cx="16002000" cy="9525"/>
          </a:xfrm>
          <a:prstGeom prst="rect">
            <a:avLst/>
          </a:prstGeom>
          <a:solidFill>
            <a:srgbClr val="CFC7B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664869"/>
            <a:ext cx="12788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43000" y="5003959"/>
            <a:ext cx="58864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firstname.lastname ]@edu.unige.it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5364004"/>
            <a:ext cx="2468999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Teknē Lab · DIBRIS · UniGe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0" y="4664869"/>
            <a:ext cx="79902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239000" y="5003959"/>
            <a:ext cx="490537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4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github.com/…/OmniLLM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39000" y="5364004"/>
            <a:ext cx="115264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82500" y="4664869"/>
            <a:ext cx="294199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7A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382500" y="5003959"/>
            <a:ext cx="490537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Sgorbissa · Dr. Grassi · the IRAI / Teknē team · and every participant who lent 30 minutes to speak with Pepper.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2026-04-23T01:04:07Z</dcterms:created>
  <dcterms:modified xsi:type="dcterms:W3CDTF">2026-04-23T01:04:07Z</dcterms:modified>
</cp:coreProperties>
</file>